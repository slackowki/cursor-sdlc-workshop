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68BD2"/>
          </a:solidFill>
          <a:ln/>
        </p:spPr>
      </p:sp>
      <p:sp>
        <p:nvSpPr>
          <p:cNvPr id="3" name="Shape 1"/>
          <p:cNvSpPr/>
          <p:nvPr/>
        </p:nvSpPr>
        <p:spPr>
          <a:xfrm>
            <a:off x="2743200" y="0"/>
            <a:ext cx="3657600" cy="54864"/>
          </a:xfrm>
          <a:prstGeom prst="rect">
            <a:avLst/>
          </a:prstGeom>
          <a:solidFill>
            <a:srgbClr val="2AA198"/>
          </a:solidFill>
          <a:ln/>
        </p:spPr>
      </p:sp>
      <p:sp>
        <p:nvSpPr>
          <p:cNvPr id="4" name="Text 2"/>
          <p:cNvSpPr/>
          <p:nvPr/>
        </p:nvSpPr>
        <p:spPr>
          <a:xfrm>
            <a:off x="731520" y="91440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Design-to-Code</a:t>
            </a:r>
            <a:endParaRPr lang="en-US" sz="4400" dirty="0"/>
          </a:p>
        </p:txBody>
      </p:sp>
      <p:sp>
        <p:nvSpPr>
          <p:cNvPr id="5" name="Text 3"/>
          <p:cNvSpPr/>
          <p:nvPr/>
        </p:nvSpPr>
        <p:spPr>
          <a:xfrm>
            <a:off x="731520" y="1828800"/>
            <a:ext cx="3657600" cy="548640"/>
          </a:xfrm>
          <a:prstGeom prst="rect">
            <a:avLst/>
          </a:prstGeom>
          <a:noFill/>
          <a:ln/>
        </p:spPr>
        <p:txBody>
          <a:bodyPr wrap="square" lIns="0" tIns="0" rIns="0" bIns="0" rtlCol="0" anchor="ctr"/>
          <a:lstStyle/>
          <a:p>
            <a:pPr indent="0" marL="0">
              <a:buNone/>
            </a:pPr>
            <a:r>
              <a:rPr lang="en-US" sz="2000" dirty="0">
                <a:solidFill>
                  <a:srgbClr val="2AA198"/>
                </a:solidFill>
                <a:latin typeface="Calibri" pitchFamily="34" charset="0"/>
                <a:ea typeface="Calibri" pitchFamily="34" charset="-122"/>
                <a:cs typeface="Calibri" pitchFamily="34" charset="-120"/>
              </a:rPr>
              <a:t>+ Planning</a:t>
            </a:r>
            <a:endParaRPr lang="en-US" sz="2000" dirty="0"/>
          </a:p>
        </p:txBody>
      </p:sp>
      <p:sp>
        <p:nvSpPr>
          <p:cNvPr id="6" name="Text 4"/>
          <p:cNvSpPr/>
          <p:nvPr/>
        </p:nvSpPr>
        <p:spPr>
          <a:xfrm>
            <a:off x="731520" y="2468880"/>
            <a:ext cx="6400800" cy="640080"/>
          </a:xfrm>
          <a:prstGeom prst="rect">
            <a:avLst/>
          </a:prstGeom>
          <a:noFill/>
          <a:ln/>
        </p:spPr>
        <p:txBody>
          <a:bodyPr wrap="square" lIns="0" tIns="0" rIns="0" bIns="0" rtlCol="0" anchor="ctr"/>
          <a:lstStyle/>
          <a:p>
            <a:pPr indent="0" marL="0">
              <a:buNone/>
            </a:pPr>
            <a:r>
              <a:rPr lang="en-US" sz="1600" dirty="0">
                <a:solidFill>
                  <a:srgbClr val="93A1A1"/>
                </a:solidFill>
                <a:latin typeface="Calibri" pitchFamily="34" charset="0"/>
                <a:ea typeface="Calibri" pitchFamily="34" charset="-122"/>
                <a:cs typeface="Calibri" pitchFamily="34" charset="-120"/>
              </a:rPr>
              <a:t>How Cursor bridges the gap between planning, design, and production code</a:t>
            </a:r>
            <a:endParaRPr lang="en-US" sz="1600" dirty="0"/>
          </a:p>
        </p:txBody>
      </p:sp>
      <p:sp>
        <p:nvSpPr>
          <p:cNvPr id="7" name="Shape 5"/>
          <p:cNvSpPr/>
          <p:nvPr/>
        </p:nvSpPr>
        <p:spPr>
          <a:xfrm>
            <a:off x="731520" y="3337560"/>
            <a:ext cx="2468880" cy="1463040"/>
          </a:xfrm>
          <a:prstGeom prst="rect">
            <a:avLst/>
          </a:prstGeom>
          <a:solidFill>
            <a:srgbClr val="1E293B"/>
          </a:solidFill>
          <a:ln w="12700">
            <a:solidFill>
              <a:srgbClr val="334155"/>
            </a:solidFill>
            <a:prstDash val="solid"/>
          </a:ln>
          <a:effectLst>
            <a:outerShdw sx="100000" sy="100000" kx="0" ky="0" algn="bl" rotWithShape="0" blurRad="50800" dist="12700" dir="8100000">
              <a:srgbClr val="000000">
                <a:alpha val="6000"/>
              </a:srgbClr>
            </a:outerShdw>
          </a:effectLst>
        </p:spPr>
      </p:sp>
      <p:pic>
        <p:nvPicPr>
          <p:cNvPr id="8" name="Image 0" descr="preencoded.png">    </p:cNvPr>
          <p:cNvPicPr>
            <a:picLocks noChangeAspect="1"/>
          </p:cNvPicPr>
          <p:nvPr/>
        </p:nvPicPr>
        <p:blipFill>
          <a:blip r:embed="rId1"/>
          <a:stretch>
            <a:fillRect/>
          </a:stretch>
        </p:blipFill>
        <p:spPr>
          <a:xfrm>
            <a:off x="914400" y="3474720"/>
            <a:ext cx="274320" cy="274320"/>
          </a:xfrm>
          <a:prstGeom prst="rect">
            <a:avLst/>
          </a:prstGeom>
        </p:spPr>
      </p:pic>
      <p:sp>
        <p:nvSpPr>
          <p:cNvPr id="9" name="Text 6"/>
          <p:cNvSpPr/>
          <p:nvPr/>
        </p:nvSpPr>
        <p:spPr>
          <a:xfrm>
            <a:off x="1280160" y="3456432"/>
            <a:ext cx="1737360" cy="32004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The Problem</a:t>
            </a:r>
            <a:endParaRPr lang="en-US" sz="1300" dirty="0"/>
          </a:p>
        </p:txBody>
      </p:sp>
      <p:sp>
        <p:nvSpPr>
          <p:cNvPr id="10" name="Text 7"/>
          <p:cNvSpPr/>
          <p:nvPr/>
        </p:nvSpPr>
        <p:spPr>
          <a:xfrm>
            <a:off x="914400" y="3840480"/>
            <a:ext cx="2103120" cy="868680"/>
          </a:xfrm>
          <a:prstGeom prst="rect">
            <a:avLst/>
          </a:prstGeom>
          <a:noFill/>
          <a:ln/>
        </p:spPr>
        <p:txBody>
          <a:bodyPr wrap="square" lIns="0" tIns="0" rIns="0" bIns="0" rtlCol="0" anchor="ctr"/>
          <a:lstStyle/>
          <a:p>
            <a:pPr indent="0" marL="0">
              <a:lnSpc>
                <a:spcPct val="120000"/>
              </a:lnSpc>
              <a:buNone/>
            </a:pPr>
            <a:r>
              <a:rPr lang="en-US" sz="1000" dirty="0">
                <a:solidFill>
                  <a:srgbClr val="93A1A1"/>
                </a:solidFill>
                <a:latin typeface="Calibri" pitchFamily="34" charset="0"/>
                <a:ea typeface="Calibri" pitchFamily="34" charset="-122"/>
                <a:cs typeface="Calibri" pitchFamily="34" charset="-120"/>
              </a:rPr>
              <a:t>Designers create beautiful mockups. Getting those into real, compatible code is where everything breaks down.</a:t>
            </a:r>
            <a:endParaRPr lang="en-US" sz="1000" dirty="0"/>
          </a:p>
        </p:txBody>
      </p:sp>
      <p:sp>
        <p:nvSpPr>
          <p:cNvPr id="11" name="Shape 8"/>
          <p:cNvSpPr/>
          <p:nvPr/>
        </p:nvSpPr>
        <p:spPr>
          <a:xfrm>
            <a:off x="3429000" y="3337560"/>
            <a:ext cx="2468880" cy="1463040"/>
          </a:xfrm>
          <a:prstGeom prst="rect">
            <a:avLst/>
          </a:prstGeom>
          <a:solidFill>
            <a:srgbClr val="1E293B"/>
          </a:solidFill>
          <a:ln w="12700">
            <a:solidFill>
              <a:srgbClr val="334155"/>
            </a:solidFill>
            <a:prstDash val="solid"/>
          </a:ln>
          <a:effectLst>
            <a:outerShdw sx="100000" sy="100000" kx="0" ky="0" algn="bl" rotWithShape="0" blurRad="50800" dist="12700" dir="8100000">
              <a:srgbClr val="000000">
                <a:alpha val="6000"/>
              </a:srgbClr>
            </a:outerShdw>
          </a:effectLst>
        </p:spPr>
      </p:sp>
      <p:pic>
        <p:nvPicPr>
          <p:cNvPr id="12" name="Image 1" descr="preencoded.png">    </p:cNvPr>
          <p:cNvPicPr>
            <a:picLocks noChangeAspect="1"/>
          </p:cNvPicPr>
          <p:nvPr/>
        </p:nvPicPr>
        <p:blipFill>
          <a:blip r:embed="rId2"/>
          <a:stretch>
            <a:fillRect/>
          </a:stretch>
        </p:blipFill>
        <p:spPr>
          <a:xfrm>
            <a:off x="3611880" y="3474720"/>
            <a:ext cx="274320" cy="274320"/>
          </a:xfrm>
          <a:prstGeom prst="rect">
            <a:avLst/>
          </a:prstGeom>
        </p:spPr>
      </p:pic>
      <p:sp>
        <p:nvSpPr>
          <p:cNvPr id="13" name="Text 9"/>
          <p:cNvSpPr/>
          <p:nvPr/>
        </p:nvSpPr>
        <p:spPr>
          <a:xfrm>
            <a:off x="3977640" y="3456432"/>
            <a:ext cx="1737360" cy="32004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The Opportunity</a:t>
            </a:r>
            <a:endParaRPr lang="en-US" sz="1300" dirty="0"/>
          </a:p>
        </p:txBody>
      </p:sp>
      <p:sp>
        <p:nvSpPr>
          <p:cNvPr id="14" name="Text 10"/>
          <p:cNvSpPr/>
          <p:nvPr/>
        </p:nvSpPr>
        <p:spPr>
          <a:xfrm>
            <a:off x="3611880" y="3840480"/>
            <a:ext cx="2103120" cy="868680"/>
          </a:xfrm>
          <a:prstGeom prst="rect">
            <a:avLst/>
          </a:prstGeom>
          <a:noFill/>
          <a:ln/>
        </p:spPr>
        <p:txBody>
          <a:bodyPr wrap="square" lIns="0" tIns="0" rIns="0" bIns="0" rtlCol="0" anchor="ctr"/>
          <a:lstStyle/>
          <a:p>
            <a:pPr indent="0" marL="0">
              <a:lnSpc>
                <a:spcPct val="120000"/>
              </a:lnSpc>
              <a:buNone/>
            </a:pPr>
            <a:r>
              <a:rPr lang="en-US" sz="1000" dirty="0">
                <a:solidFill>
                  <a:srgbClr val="93A1A1"/>
                </a:solidFill>
                <a:latin typeface="Calibri" pitchFamily="34" charset="0"/>
                <a:ea typeface="Calibri" pitchFamily="34" charset="-122"/>
                <a:cs typeface="Calibri" pitchFamily="34" charset="-120"/>
              </a:rPr>
              <a:t>Every enterprise has this pain. Design systems, framework compliance, back-and-forth handoffs — Cursor addresses all of it.</a:t>
            </a:r>
            <a:endParaRPr lang="en-US" sz="1000" dirty="0"/>
          </a:p>
        </p:txBody>
      </p:sp>
      <p:sp>
        <p:nvSpPr>
          <p:cNvPr id="15" name="Shape 11"/>
          <p:cNvSpPr/>
          <p:nvPr/>
        </p:nvSpPr>
        <p:spPr>
          <a:xfrm>
            <a:off x="6126480" y="3337560"/>
            <a:ext cx="2468880" cy="1463040"/>
          </a:xfrm>
          <a:prstGeom prst="rect">
            <a:avLst/>
          </a:prstGeom>
          <a:solidFill>
            <a:srgbClr val="1E293B"/>
          </a:solidFill>
          <a:ln w="12700">
            <a:solidFill>
              <a:srgbClr val="334155"/>
            </a:solidFill>
            <a:prstDash val="solid"/>
          </a:ln>
          <a:effectLst>
            <a:outerShdw sx="100000" sy="100000" kx="0" ky="0" algn="bl" rotWithShape="0" blurRad="50800" dist="12700" dir="8100000">
              <a:srgbClr val="000000">
                <a:alpha val="6000"/>
              </a:srgbClr>
            </a:outerShdw>
          </a:effectLst>
        </p:spPr>
      </p:sp>
      <p:pic>
        <p:nvPicPr>
          <p:cNvPr id="16" name="Image 2" descr="preencoded.png">    </p:cNvPr>
          <p:cNvPicPr>
            <a:picLocks noChangeAspect="1"/>
          </p:cNvPicPr>
          <p:nvPr/>
        </p:nvPicPr>
        <p:blipFill>
          <a:blip r:embed="rId3"/>
          <a:stretch>
            <a:fillRect/>
          </a:stretch>
        </p:blipFill>
        <p:spPr>
          <a:xfrm>
            <a:off x="6309360" y="3474720"/>
            <a:ext cx="274320" cy="274320"/>
          </a:xfrm>
          <a:prstGeom prst="rect">
            <a:avLst/>
          </a:prstGeom>
        </p:spPr>
      </p:pic>
      <p:sp>
        <p:nvSpPr>
          <p:cNvPr id="17" name="Text 12"/>
          <p:cNvSpPr/>
          <p:nvPr/>
        </p:nvSpPr>
        <p:spPr>
          <a:xfrm>
            <a:off x="6675120" y="3456432"/>
            <a:ext cx="1737360" cy="32004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What We'll Cover</a:t>
            </a:r>
            <a:endParaRPr lang="en-US" sz="1300" dirty="0"/>
          </a:p>
        </p:txBody>
      </p:sp>
      <p:sp>
        <p:nvSpPr>
          <p:cNvPr id="18" name="Text 13"/>
          <p:cNvSpPr/>
          <p:nvPr/>
        </p:nvSpPr>
        <p:spPr>
          <a:xfrm>
            <a:off x="6309360" y="3840480"/>
            <a:ext cx="2103120" cy="868680"/>
          </a:xfrm>
          <a:prstGeom prst="rect">
            <a:avLst/>
          </a:prstGeom>
          <a:noFill/>
          <a:ln/>
        </p:spPr>
        <p:txBody>
          <a:bodyPr wrap="square" lIns="0" tIns="0" rIns="0" bIns="0" rtlCol="0" anchor="ctr"/>
          <a:lstStyle/>
          <a:p>
            <a:pPr indent="0" marL="0">
              <a:lnSpc>
                <a:spcPct val="120000"/>
              </a:lnSpc>
              <a:buNone/>
            </a:pPr>
            <a:r>
              <a:rPr lang="en-US" sz="1000" dirty="0">
                <a:solidFill>
                  <a:srgbClr val="93A1A1"/>
                </a:solidFill>
                <a:latin typeface="Calibri" pitchFamily="34" charset="0"/>
                <a:ea typeface="Calibri" pitchFamily="34" charset="-122"/>
                <a:cs typeface="Calibri" pitchFamily="34" charset="-120"/>
              </a:rPr>
              <a:t>How planning and design feed into code, why the current handoff is broken, and how Cursor changes the workflow.</a:t>
            </a:r>
            <a:endParaRPr lang="en-US" sz="1000" dirty="0"/>
          </a:p>
        </p:txBody>
      </p:sp>
      <p:sp>
        <p:nvSpPr>
          <p:cNvPr id="19" name="Text 14"/>
          <p:cNvSpPr/>
          <p:nvPr/>
        </p:nvSpPr>
        <p:spPr>
          <a:xfrm>
            <a:off x="731520" y="4709160"/>
            <a:ext cx="7680960" cy="274320"/>
          </a:xfrm>
          <a:prstGeom prst="rect">
            <a:avLst/>
          </a:prstGeom>
          <a:noFill/>
          <a:ln/>
        </p:spPr>
        <p:txBody>
          <a:bodyPr wrap="square" lIns="0" tIns="0" rIns="0" bIns="0" rtlCol="0" anchor="ctr"/>
          <a:lstStyle/>
          <a:p>
            <a:pPr indent="0" marL="0">
              <a:buNone/>
            </a:pPr>
            <a:r>
              <a:rPr lang="en-US" sz="900" i="1" dirty="0">
                <a:solidFill>
                  <a:srgbClr val="93A1A1"/>
                </a:solidFill>
                <a:latin typeface="Calibri" pitchFamily="34" charset="0"/>
                <a:ea typeface="Calibri" pitchFamily="34" charset="-122"/>
                <a:cs typeface="Calibri" pitchFamily="34" charset="-120"/>
              </a:rPr>
              <a:t>Based on real customer conversations — including Sigma's design ops team and Intuit's enterprise design org.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680960" cy="594360"/>
          </a:xfrm>
          <a:prstGeom prst="rect">
            <a:avLst/>
          </a:prstGeom>
          <a:noFill/>
          <a:ln/>
        </p:spPr>
        <p:txBody>
          <a:bodyPr wrap="square" lIns="0" tIns="0" rIns="0" bIns="0" rtlCol="0" anchor="ctr"/>
          <a:lstStyle/>
          <a:p>
            <a:pPr indent="0" marL="0">
              <a:buNone/>
            </a:pPr>
            <a:r>
              <a:rPr lang="en-US" sz="3200" b="1" dirty="0">
                <a:solidFill>
                  <a:srgbClr val="1A202C"/>
                </a:solidFill>
                <a:latin typeface="Trebuchet MS" pitchFamily="34" charset="0"/>
                <a:ea typeface="Trebuchet MS" pitchFamily="34" charset="-122"/>
                <a:cs typeface="Trebuchet MS" pitchFamily="34" charset="-120"/>
              </a:rPr>
              <a:t>Where Design-to-Code Lives</a:t>
            </a:r>
            <a:endParaRPr lang="en-US" sz="3200" dirty="0"/>
          </a:p>
        </p:txBody>
      </p:sp>
      <p:sp>
        <p:nvSpPr>
          <p:cNvPr id="3" name="Text 1"/>
          <p:cNvSpPr/>
          <p:nvPr/>
        </p:nvSpPr>
        <p:spPr>
          <a:xfrm>
            <a:off x="731520" y="868680"/>
            <a:ext cx="7315200" cy="365760"/>
          </a:xfrm>
          <a:prstGeom prst="rect">
            <a:avLst/>
          </a:prstGeom>
          <a:noFill/>
          <a:ln/>
        </p:spPr>
        <p:txBody>
          <a:bodyPr wrap="square" lIns="0" tIns="0" rIns="0" bIns="0" rtlCol="0" anchor="ctr"/>
          <a:lstStyle/>
          <a:p>
            <a:pPr indent="0" marL="0">
              <a:buNone/>
            </a:pPr>
            <a:r>
              <a:rPr lang="en-US" sz="1400" dirty="0">
                <a:solidFill>
                  <a:srgbClr val="93A1A1"/>
                </a:solidFill>
                <a:latin typeface="Calibri" pitchFamily="34" charset="0"/>
                <a:ea typeface="Calibri" pitchFamily="34" charset="-122"/>
                <a:cs typeface="Calibri" pitchFamily="34" charset="-120"/>
              </a:rPr>
              <a:t>The full software development lifecycle — and the piece we're zooming into</a:t>
            </a:r>
            <a:endParaRPr lang="en-US" sz="1400" dirty="0"/>
          </a:p>
        </p:txBody>
      </p:sp>
      <p:sp>
        <p:nvSpPr>
          <p:cNvPr id="4" name="Shape 2"/>
          <p:cNvSpPr/>
          <p:nvPr/>
        </p:nvSpPr>
        <p:spPr>
          <a:xfrm>
            <a:off x="571500" y="1463040"/>
            <a:ext cx="1143000" cy="1600200"/>
          </a:xfrm>
          <a:prstGeom prst="rect">
            <a:avLst/>
          </a:prstGeom>
          <a:solidFill>
            <a:srgbClr val="F0F9FF"/>
          </a:solidFill>
          <a:ln w="19050">
            <a:solidFill>
              <a:srgbClr val="268BD2"/>
            </a:solidFill>
            <a:prstDash val="solid"/>
          </a:ln>
          <a:effectLst>
            <a:outerShdw sx="100000" sy="100000" kx="0" ky="0" algn="bl" rotWithShape="0" blurRad="50800" dist="12700" dir="8100000">
              <a:srgbClr val="000000">
                <a:alpha val="6000"/>
              </a:srgbClr>
            </a:outerShdw>
          </a:effectLst>
        </p:spPr>
      </p:sp>
      <p:pic>
        <p:nvPicPr>
          <p:cNvPr id="5" name="Image 0" descr="preencoded.png">    </p:cNvPr>
          <p:cNvPicPr>
            <a:picLocks noChangeAspect="1"/>
          </p:cNvPicPr>
          <p:nvPr/>
        </p:nvPicPr>
        <p:blipFill>
          <a:blip r:embed="rId1"/>
          <a:stretch>
            <a:fillRect/>
          </a:stretch>
        </p:blipFill>
        <p:spPr>
          <a:xfrm>
            <a:off x="960120" y="1600200"/>
            <a:ext cx="365760" cy="365760"/>
          </a:xfrm>
          <a:prstGeom prst="rect">
            <a:avLst/>
          </a:prstGeom>
        </p:spPr>
      </p:pic>
      <p:sp>
        <p:nvSpPr>
          <p:cNvPr id="6" name="Text 3"/>
          <p:cNvSpPr/>
          <p:nvPr/>
        </p:nvSpPr>
        <p:spPr>
          <a:xfrm>
            <a:off x="5715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01</a:t>
            </a:r>
            <a:endParaRPr lang="en-US" sz="800" dirty="0"/>
          </a:p>
        </p:txBody>
      </p:sp>
      <p:sp>
        <p:nvSpPr>
          <p:cNvPr id="7" name="Text 4"/>
          <p:cNvSpPr/>
          <p:nvPr/>
        </p:nvSpPr>
        <p:spPr>
          <a:xfrm>
            <a:off x="571500" y="2212848"/>
            <a:ext cx="1143000" cy="274320"/>
          </a:xfrm>
          <a:prstGeom prst="rect">
            <a:avLst/>
          </a:prstGeom>
          <a:noFill/>
          <a:ln/>
        </p:spPr>
        <p:txBody>
          <a:bodyPr wrap="square" lIns="0" tIns="0" rIns="0" bIns="0" rtlCol="0" anchor="ctr"/>
          <a:lstStyle/>
          <a:p>
            <a:pPr algn="ctr" indent="0" marL="0">
              <a:buNone/>
            </a:pPr>
            <a:r>
              <a:rPr lang="en-US" sz="1300" b="1" dirty="0">
                <a:solidFill>
                  <a:srgbClr val="4A5568"/>
                </a:solidFill>
                <a:latin typeface="Trebuchet MS" pitchFamily="34" charset="0"/>
                <a:ea typeface="Trebuchet MS" pitchFamily="34" charset="-122"/>
                <a:cs typeface="Trebuchet MS" pitchFamily="34" charset="-120"/>
              </a:rPr>
              <a:t>Plan</a:t>
            </a:r>
            <a:endParaRPr lang="en-US" sz="1300" dirty="0"/>
          </a:p>
        </p:txBody>
      </p:sp>
      <p:sp>
        <p:nvSpPr>
          <p:cNvPr id="8" name="Text 5"/>
          <p:cNvSpPr/>
          <p:nvPr/>
        </p:nvSpPr>
        <p:spPr>
          <a:xfrm>
            <a:off x="6629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Notion, Jira, Linear</a:t>
            </a:r>
            <a:endParaRPr lang="en-US" sz="800" dirty="0"/>
          </a:p>
        </p:txBody>
      </p:sp>
      <p:sp>
        <p:nvSpPr>
          <p:cNvPr id="9" name="Text 6"/>
          <p:cNvSpPr/>
          <p:nvPr/>
        </p:nvSpPr>
        <p:spPr>
          <a:xfrm>
            <a:off x="1714500" y="1965960"/>
            <a:ext cx="228600" cy="457200"/>
          </a:xfrm>
          <a:prstGeom prst="rect">
            <a:avLst/>
          </a:prstGeom>
          <a:noFill/>
          <a:ln/>
        </p:spPr>
        <p:txBody>
          <a:bodyPr wrap="square" lIns="0" tIns="0" rIns="0" bIns="0" rtlCol="0" anchor="ctr"/>
          <a:lstStyle/>
          <a:p>
            <a:pPr algn="ctr" indent="0" marL="0">
              <a:buNone/>
            </a:pPr>
            <a:r>
              <a:rPr lang="en-US" sz="1600" dirty="0">
                <a:solidFill>
                  <a:srgbClr val="268BD2"/>
                </a:solidFill>
              </a:rPr>
              <a:t>→</a:t>
            </a:r>
            <a:endParaRPr lang="en-US" sz="1600" dirty="0"/>
          </a:p>
        </p:txBody>
      </p:sp>
      <p:sp>
        <p:nvSpPr>
          <p:cNvPr id="10" name="Shape 7"/>
          <p:cNvSpPr/>
          <p:nvPr/>
        </p:nvSpPr>
        <p:spPr>
          <a:xfrm>
            <a:off x="1943100" y="1463040"/>
            <a:ext cx="1143000" cy="1600200"/>
          </a:xfrm>
          <a:prstGeom prst="rect">
            <a:avLst/>
          </a:prstGeom>
          <a:solidFill>
            <a:srgbClr val="EBF5FF"/>
          </a:solidFill>
          <a:ln w="31750">
            <a:solidFill>
              <a:srgbClr val="268BD2"/>
            </a:solidFill>
            <a:prstDash val="solid"/>
          </a:ln>
          <a:effectLst>
            <a:outerShdw sx="100000" sy="100000" kx="0" ky="0" algn="bl" rotWithShape="0" blurRad="50800" dist="12700" dir="8100000">
              <a:srgbClr val="000000">
                <a:alpha val="6000"/>
              </a:srgbClr>
            </a:outerShdw>
          </a:effectLst>
        </p:spPr>
      </p:sp>
      <p:pic>
        <p:nvPicPr>
          <p:cNvPr id="11" name="Image 1" descr="preencoded.png">    </p:cNvPr>
          <p:cNvPicPr>
            <a:picLocks noChangeAspect="1"/>
          </p:cNvPicPr>
          <p:nvPr/>
        </p:nvPicPr>
        <p:blipFill>
          <a:blip r:embed="rId2"/>
          <a:stretch>
            <a:fillRect/>
          </a:stretch>
        </p:blipFill>
        <p:spPr>
          <a:xfrm>
            <a:off x="2331720" y="1600200"/>
            <a:ext cx="365760" cy="365760"/>
          </a:xfrm>
          <a:prstGeom prst="rect">
            <a:avLst/>
          </a:prstGeom>
        </p:spPr>
      </p:pic>
      <p:sp>
        <p:nvSpPr>
          <p:cNvPr id="12" name="Text 8"/>
          <p:cNvSpPr/>
          <p:nvPr/>
        </p:nvSpPr>
        <p:spPr>
          <a:xfrm>
            <a:off x="19431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02</a:t>
            </a:r>
            <a:endParaRPr lang="en-US" sz="800" dirty="0"/>
          </a:p>
        </p:txBody>
      </p:sp>
      <p:sp>
        <p:nvSpPr>
          <p:cNvPr id="13" name="Text 9"/>
          <p:cNvSpPr/>
          <p:nvPr/>
        </p:nvSpPr>
        <p:spPr>
          <a:xfrm>
            <a:off x="1943100" y="2212848"/>
            <a:ext cx="1143000" cy="274320"/>
          </a:xfrm>
          <a:prstGeom prst="rect">
            <a:avLst/>
          </a:prstGeom>
          <a:noFill/>
          <a:ln/>
        </p:spPr>
        <p:txBody>
          <a:bodyPr wrap="square" lIns="0" tIns="0" rIns="0" bIns="0" rtlCol="0" anchor="ctr"/>
          <a:lstStyle/>
          <a:p>
            <a:pPr algn="ctr" indent="0" marL="0">
              <a:buNone/>
            </a:pPr>
            <a:r>
              <a:rPr lang="en-US" sz="1300" b="1" dirty="0">
                <a:solidFill>
                  <a:srgbClr val="268BD2"/>
                </a:solidFill>
                <a:latin typeface="Trebuchet MS" pitchFamily="34" charset="0"/>
                <a:ea typeface="Trebuchet MS" pitchFamily="34" charset="-122"/>
                <a:cs typeface="Trebuchet MS" pitchFamily="34" charset="-120"/>
              </a:rPr>
              <a:t>Design</a:t>
            </a:r>
            <a:endParaRPr lang="en-US" sz="1300" dirty="0"/>
          </a:p>
        </p:txBody>
      </p:sp>
      <p:sp>
        <p:nvSpPr>
          <p:cNvPr id="14" name="Text 10"/>
          <p:cNvSpPr/>
          <p:nvPr/>
        </p:nvSpPr>
        <p:spPr>
          <a:xfrm>
            <a:off x="20345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Figma, Adobe XD, Storybook</a:t>
            </a:r>
            <a:endParaRPr lang="en-US" sz="800" dirty="0"/>
          </a:p>
        </p:txBody>
      </p:sp>
      <p:sp>
        <p:nvSpPr>
          <p:cNvPr id="15" name="Text 11"/>
          <p:cNvSpPr/>
          <p:nvPr/>
        </p:nvSpPr>
        <p:spPr>
          <a:xfrm>
            <a:off x="3086100" y="1965960"/>
            <a:ext cx="228600" cy="457200"/>
          </a:xfrm>
          <a:prstGeom prst="rect">
            <a:avLst/>
          </a:prstGeom>
          <a:noFill/>
          <a:ln/>
        </p:spPr>
        <p:txBody>
          <a:bodyPr wrap="square" lIns="0" tIns="0" rIns="0" bIns="0" rtlCol="0" anchor="ctr"/>
          <a:lstStyle/>
          <a:p>
            <a:pPr algn="ctr" indent="0" marL="0">
              <a:buNone/>
            </a:pPr>
            <a:r>
              <a:rPr lang="en-US" sz="1600" dirty="0">
                <a:solidFill>
                  <a:srgbClr val="268BD2"/>
                </a:solidFill>
              </a:rPr>
              <a:t>→</a:t>
            </a:r>
            <a:endParaRPr lang="en-US" sz="1600" dirty="0"/>
          </a:p>
        </p:txBody>
      </p:sp>
      <p:sp>
        <p:nvSpPr>
          <p:cNvPr id="16" name="Shape 12"/>
          <p:cNvSpPr/>
          <p:nvPr/>
        </p:nvSpPr>
        <p:spPr>
          <a:xfrm>
            <a:off x="3314700" y="1463040"/>
            <a:ext cx="1143000" cy="1600200"/>
          </a:xfrm>
          <a:prstGeom prst="rect">
            <a:avLst/>
          </a:prstGeom>
          <a:solidFill>
            <a:srgbClr val="EBF5FF"/>
          </a:solidFill>
          <a:ln w="31750">
            <a:solidFill>
              <a:srgbClr val="268BD2"/>
            </a:solidFill>
            <a:prstDash val="solid"/>
          </a:ln>
          <a:effectLst>
            <a:outerShdw sx="100000" sy="100000" kx="0" ky="0" algn="bl" rotWithShape="0" blurRad="50800" dist="12700" dir="8100000">
              <a:srgbClr val="000000">
                <a:alpha val="6000"/>
              </a:srgbClr>
            </a:outerShdw>
          </a:effectLst>
        </p:spPr>
      </p:sp>
      <p:pic>
        <p:nvPicPr>
          <p:cNvPr id="17" name="Image 2" descr="preencoded.png">    </p:cNvPr>
          <p:cNvPicPr>
            <a:picLocks noChangeAspect="1"/>
          </p:cNvPicPr>
          <p:nvPr/>
        </p:nvPicPr>
        <p:blipFill>
          <a:blip r:embed="rId3"/>
          <a:stretch>
            <a:fillRect/>
          </a:stretch>
        </p:blipFill>
        <p:spPr>
          <a:xfrm>
            <a:off x="3703320" y="1600200"/>
            <a:ext cx="365760" cy="365760"/>
          </a:xfrm>
          <a:prstGeom prst="rect">
            <a:avLst/>
          </a:prstGeom>
        </p:spPr>
      </p:pic>
      <p:sp>
        <p:nvSpPr>
          <p:cNvPr id="18" name="Text 13"/>
          <p:cNvSpPr/>
          <p:nvPr/>
        </p:nvSpPr>
        <p:spPr>
          <a:xfrm>
            <a:off x="33147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03</a:t>
            </a:r>
            <a:endParaRPr lang="en-US" sz="800" dirty="0"/>
          </a:p>
        </p:txBody>
      </p:sp>
      <p:sp>
        <p:nvSpPr>
          <p:cNvPr id="19" name="Text 14"/>
          <p:cNvSpPr/>
          <p:nvPr/>
        </p:nvSpPr>
        <p:spPr>
          <a:xfrm>
            <a:off x="3314700" y="2212848"/>
            <a:ext cx="1143000" cy="274320"/>
          </a:xfrm>
          <a:prstGeom prst="rect">
            <a:avLst/>
          </a:prstGeom>
          <a:noFill/>
          <a:ln/>
        </p:spPr>
        <p:txBody>
          <a:bodyPr wrap="square" lIns="0" tIns="0" rIns="0" bIns="0" rtlCol="0" anchor="ctr"/>
          <a:lstStyle/>
          <a:p>
            <a:pPr algn="ctr" indent="0" marL="0">
              <a:buNone/>
            </a:pPr>
            <a:r>
              <a:rPr lang="en-US" sz="1300" b="1" dirty="0">
                <a:solidFill>
                  <a:srgbClr val="268BD2"/>
                </a:solidFill>
                <a:latin typeface="Trebuchet MS" pitchFamily="34" charset="0"/>
                <a:ea typeface="Trebuchet MS" pitchFamily="34" charset="-122"/>
                <a:cs typeface="Trebuchet MS" pitchFamily="34" charset="-120"/>
              </a:rPr>
              <a:t>Develop</a:t>
            </a:r>
            <a:endParaRPr lang="en-US" sz="1300" dirty="0"/>
          </a:p>
        </p:txBody>
      </p:sp>
      <p:sp>
        <p:nvSpPr>
          <p:cNvPr id="20" name="Text 15"/>
          <p:cNvSpPr/>
          <p:nvPr/>
        </p:nvSpPr>
        <p:spPr>
          <a:xfrm>
            <a:off x="34061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Cursor, VS Code, GitHub</a:t>
            </a:r>
            <a:endParaRPr lang="en-US" sz="800" dirty="0"/>
          </a:p>
        </p:txBody>
      </p:sp>
      <p:sp>
        <p:nvSpPr>
          <p:cNvPr id="21" name="Text 16"/>
          <p:cNvSpPr/>
          <p:nvPr/>
        </p:nvSpPr>
        <p:spPr>
          <a:xfrm>
            <a:off x="4457700" y="1965960"/>
            <a:ext cx="228600" cy="457200"/>
          </a:xfrm>
          <a:prstGeom prst="rect">
            <a:avLst/>
          </a:prstGeom>
          <a:noFill/>
          <a:ln/>
        </p:spPr>
        <p:txBody>
          <a:bodyPr wrap="square" lIns="0" tIns="0" rIns="0" bIns="0" rtlCol="0" anchor="ctr"/>
          <a:lstStyle/>
          <a:p>
            <a:pPr algn="ctr" indent="0" marL="0">
              <a:buNone/>
            </a:pPr>
            <a:r>
              <a:rPr lang="en-US" sz="1600" dirty="0">
                <a:solidFill>
                  <a:srgbClr val="E2E8F0"/>
                </a:solidFill>
              </a:rPr>
              <a:t>→</a:t>
            </a:r>
            <a:endParaRPr lang="en-US" sz="1600" dirty="0"/>
          </a:p>
        </p:txBody>
      </p:sp>
      <p:sp>
        <p:nvSpPr>
          <p:cNvPr id="22" name="Shape 17"/>
          <p:cNvSpPr/>
          <p:nvPr/>
        </p:nvSpPr>
        <p:spPr>
          <a:xfrm>
            <a:off x="4686300" y="1463040"/>
            <a:ext cx="1143000" cy="1600200"/>
          </a:xfrm>
          <a:prstGeom prst="rect">
            <a:avLst/>
          </a:prstGeom>
          <a:solidFill>
            <a:srgbClr val="F7FAFC">
              <a:alpha val="35000"/>
            </a:srgbClr>
          </a:solidFill>
          <a:ln w="19050">
            <a:solidFill>
              <a:srgbClr val="E2E8F0"/>
            </a:solidFill>
            <a:prstDash val="solid"/>
          </a:ln>
        </p:spPr>
      </p:sp>
      <p:pic>
        <p:nvPicPr>
          <p:cNvPr id="23" name="Image 3" descr="preencoded.png">    </p:cNvPr>
          <p:cNvPicPr>
            <a:picLocks noChangeAspect="1"/>
          </p:cNvPicPr>
          <p:nvPr/>
        </p:nvPicPr>
        <p:blipFill>
          <a:blip r:embed="rId4">
            <a:alphaModFix amt="35000"/>
          </a:blip>
          <a:stretch>
            <a:fillRect/>
          </a:stretch>
        </p:blipFill>
        <p:spPr>
          <a:xfrm>
            <a:off x="5074920" y="1600200"/>
            <a:ext cx="365760" cy="365760"/>
          </a:xfrm>
          <a:prstGeom prst="rect">
            <a:avLst/>
          </a:prstGeom>
        </p:spPr>
      </p:pic>
      <p:sp>
        <p:nvSpPr>
          <p:cNvPr id="24" name="Text 18"/>
          <p:cNvSpPr/>
          <p:nvPr/>
        </p:nvSpPr>
        <p:spPr>
          <a:xfrm>
            <a:off x="46863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04</a:t>
            </a:r>
            <a:endParaRPr lang="en-US" sz="800" dirty="0"/>
          </a:p>
        </p:txBody>
      </p:sp>
      <p:sp>
        <p:nvSpPr>
          <p:cNvPr id="25" name="Text 19"/>
          <p:cNvSpPr/>
          <p:nvPr/>
        </p:nvSpPr>
        <p:spPr>
          <a:xfrm>
            <a:off x="4686300" y="2212848"/>
            <a:ext cx="1143000" cy="274320"/>
          </a:xfrm>
          <a:prstGeom prst="rect">
            <a:avLst/>
          </a:prstGeom>
          <a:noFill/>
          <a:ln/>
        </p:spPr>
        <p:txBody>
          <a:bodyPr wrap="square" lIns="0" tIns="0" rIns="0" bIns="0" rtlCol="0" anchor="ctr"/>
          <a:lstStyle/>
          <a:p>
            <a:pPr algn="ctr" indent="0" marL="0">
              <a:buNone/>
            </a:pPr>
            <a:r>
              <a:rPr lang="en-US" sz="1300" b="1" dirty="0">
                <a:solidFill>
                  <a:srgbClr val="93A1A1"/>
                </a:solidFill>
                <a:latin typeface="Trebuchet MS" pitchFamily="34" charset="0"/>
                <a:ea typeface="Trebuchet MS" pitchFamily="34" charset="-122"/>
                <a:cs typeface="Trebuchet MS" pitchFamily="34" charset="-120"/>
              </a:rPr>
              <a:t>Test</a:t>
            </a:r>
            <a:endParaRPr lang="en-US" sz="1300" dirty="0"/>
          </a:p>
        </p:txBody>
      </p:sp>
      <p:sp>
        <p:nvSpPr>
          <p:cNvPr id="26" name="Text 20"/>
          <p:cNvSpPr/>
          <p:nvPr/>
        </p:nvSpPr>
        <p:spPr>
          <a:xfrm>
            <a:off x="47777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CI/CD, Selenium</a:t>
            </a:r>
            <a:endParaRPr lang="en-US" sz="800" dirty="0"/>
          </a:p>
        </p:txBody>
      </p:sp>
      <p:sp>
        <p:nvSpPr>
          <p:cNvPr id="27" name="Text 21"/>
          <p:cNvSpPr/>
          <p:nvPr/>
        </p:nvSpPr>
        <p:spPr>
          <a:xfrm>
            <a:off x="5829300" y="1965960"/>
            <a:ext cx="228600" cy="457200"/>
          </a:xfrm>
          <a:prstGeom prst="rect">
            <a:avLst/>
          </a:prstGeom>
          <a:noFill/>
          <a:ln/>
        </p:spPr>
        <p:txBody>
          <a:bodyPr wrap="square" lIns="0" tIns="0" rIns="0" bIns="0" rtlCol="0" anchor="ctr"/>
          <a:lstStyle/>
          <a:p>
            <a:pPr algn="ctr" indent="0" marL="0">
              <a:buNone/>
            </a:pPr>
            <a:r>
              <a:rPr lang="en-US" sz="1600" dirty="0">
                <a:solidFill>
                  <a:srgbClr val="E2E8F0"/>
                </a:solidFill>
              </a:rPr>
              <a:t>→</a:t>
            </a:r>
            <a:endParaRPr lang="en-US" sz="1600" dirty="0"/>
          </a:p>
        </p:txBody>
      </p:sp>
      <p:sp>
        <p:nvSpPr>
          <p:cNvPr id="28" name="Shape 22"/>
          <p:cNvSpPr/>
          <p:nvPr/>
        </p:nvSpPr>
        <p:spPr>
          <a:xfrm>
            <a:off x="6057900" y="1463040"/>
            <a:ext cx="1143000" cy="1600200"/>
          </a:xfrm>
          <a:prstGeom prst="rect">
            <a:avLst/>
          </a:prstGeom>
          <a:solidFill>
            <a:srgbClr val="F7FAFC">
              <a:alpha val="35000"/>
            </a:srgbClr>
          </a:solidFill>
          <a:ln w="19050">
            <a:solidFill>
              <a:srgbClr val="E2E8F0"/>
            </a:solidFill>
            <a:prstDash val="solid"/>
          </a:ln>
        </p:spPr>
      </p:sp>
      <p:pic>
        <p:nvPicPr>
          <p:cNvPr id="29" name="Image 4" descr="preencoded.png">    </p:cNvPr>
          <p:cNvPicPr>
            <a:picLocks noChangeAspect="1"/>
          </p:cNvPicPr>
          <p:nvPr/>
        </p:nvPicPr>
        <p:blipFill>
          <a:blip r:embed="rId5">
            <a:alphaModFix amt="35000"/>
          </a:blip>
          <a:stretch>
            <a:fillRect/>
          </a:stretch>
        </p:blipFill>
        <p:spPr>
          <a:xfrm>
            <a:off x="6446520" y="1600200"/>
            <a:ext cx="365760" cy="365760"/>
          </a:xfrm>
          <a:prstGeom prst="rect">
            <a:avLst/>
          </a:prstGeom>
        </p:spPr>
      </p:pic>
      <p:sp>
        <p:nvSpPr>
          <p:cNvPr id="30" name="Text 23"/>
          <p:cNvSpPr/>
          <p:nvPr/>
        </p:nvSpPr>
        <p:spPr>
          <a:xfrm>
            <a:off x="60579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05</a:t>
            </a:r>
            <a:endParaRPr lang="en-US" sz="800" dirty="0"/>
          </a:p>
        </p:txBody>
      </p:sp>
      <p:sp>
        <p:nvSpPr>
          <p:cNvPr id="31" name="Text 24"/>
          <p:cNvSpPr/>
          <p:nvPr/>
        </p:nvSpPr>
        <p:spPr>
          <a:xfrm>
            <a:off x="6057900" y="2212848"/>
            <a:ext cx="1143000" cy="274320"/>
          </a:xfrm>
          <a:prstGeom prst="rect">
            <a:avLst/>
          </a:prstGeom>
          <a:noFill/>
          <a:ln/>
        </p:spPr>
        <p:txBody>
          <a:bodyPr wrap="square" lIns="0" tIns="0" rIns="0" bIns="0" rtlCol="0" anchor="ctr"/>
          <a:lstStyle/>
          <a:p>
            <a:pPr algn="ctr" indent="0" marL="0">
              <a:buNone/>
            </a:pPr>
            <a:r>
              <a:rPr lang="en-US" sz="1300" b="1" dirty="0">
                <a:solidFill>
                  <a:srgbClr val="93A1A1"/>
                </a:solidFill>
                <a:latin typeface="Trebuchet MS" pitchFamily="34" charset="0"/>
                <a:ea typeface="Trebuchet MS" pitchFamily="34" charset="-122"/>
                <a:cs typeface="Trebuchet MS" pitchFamily="34" charset="-120"/>
              </a:rPr>
              <a:t>Review</a:t>
            </a:r>
            <a:endParaRPr lang="en-US" sz="1300" dirty="0"/>
          </a:p>
        </p:txBody>
      </p:sp>
      <p:sp>
        <p:nvSpPr>
          <p:cNvPr id="32" name="Text 25"/>
          <p:cNvSpPr/>
          <p:nvPr/>
        </p:nvSpPr>
        <p:spPr>
          <a:xfrm>
            <a:off x="61493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GitHub PRs, BugBot</a:t>
            </a:r>
            <a:endParaRPr lang="en-US" sz="800" dirty="0"/>
          </a:p>
        </p:txBody>
      </p:sp>
      <p:sp>
        <p:nvSpPr>
          <p:cNvPr id="33" name="Text 26"/>
          <p:cNvSpPr/>
          <p:nvPr/>
        </p:nvSpPr>
        <p:spPr>
          <a:xfrm>
            <a:off x="7200900" y="1965960"/>
            <a:ext cx="228600" cy="457200"/>
          </a:xfrm>
          <a:prstGeom prst="rect">
            <a:avLst/>
          </a:prstGeom>
          <a:noFill/>
          <a:ln/>
        </p:spPr>
        <p:txBody>
          <a:bodyPr wrap="square" lIns="0" tIns="0" rIns="0" bIns="0" rtlCol="0" anchor="ctr"/>
          <a:lstStyle/>
          <a:p>
            <a:pPr algn="ctr" indent="0" marL="0">
              <a:buNone/>
            </a:pPr>
            <a:r>
              <a:rPr lang="en-US" sz="1600" dirty="0">
                <a:solidFill>
                  <a:srgbClr val="E2E8F0"/>
                </a:solidFill>
              </a:rPr>
              <a:t>→</a:t>
            </a:r>
            <a:endParaRPr lang="en-US" sz="1600" dirty="0"/>
          </a:p>
        </p:txBody>
      </p:sp>
      <p:sp>
        <p:nvSpPr>
          <p:cNvPr id="34" name="Shape 27"/>
          <p:cNvSpPr/>
          <p:nvPr/>
        </p:nvSpPr>
        <p:spPr>
          <a:xfrm>
            <a:off x="7429500" y="1463040"/>
            <a:ext cx="1143000" cy="1600200"/>
          </a:xfrm>
          <a:prstGeom prst="rect">
            <a:avLst/>
          </a:prstGeom>
          <a:solidFill>
            <a:srgbClr val="F7FAFC">
              <a:alpha val="35000"/>
            </a:srgbClr>
          </a:solidFill>
          <a:ln w="19050">
            <a:solidFill>
              <a:srgbClr val="E2E8F0"/>
            </a:solidFill>
            <a:prstDash val="solid"/>
          </a:ln>
        </p:spPr>
      </p:sp>
      <p:pic>
        <p:nvPicPr>
          <p:cNvPr id="35" name="Image 5" descr="preencoded.png">    </p:cNvPr>
          <p:cNvPicPr>
            <a:picLocks noChangeAspect="1"/>
          </p:cNvPicPr>
          <p:nvPr/>
        </p:nvPicPr>
        <p:blipFill>
          <a:blip r:embed="rId6">
            <a:alphaModFix amt="35000"/>
          </a:blip>
          <a:stretch>
            <a:fillRect/>
          </a:stretch>
        </p:blipFill>
        <p:spPr>
          <a:xfrm>
            <a:off x="7818120" y="1600200"/>
            <a:ext cx="365760" cy="365760"/>
          </a:xfrm>
          <a:prstGeom prst="rect">
            <a:avLst/>
          </a:prstGeom>
        </p:spPr>
      </p:pic>
      <p:sp>
        <p:nvSpPr>
          <p:cNvPr id="36" name="Text 28"/>
          <p:cNvSpPr/>
          <p:nvPr/>
        </p:nvSpPr>
        <p:spPr>
          <a:xfrm>
            <a:off x="7429500" y="2011680"/>
            <a:ext cx="1143000" cy="228600"/>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06</a:t>
            </a:r>
            <a:endParaRPr lang="en-US" sz="800" dirty="0"/>
          </a:p>
        </p:txBody>
      </p:sp>
      <p:sp>
        <p:nvSpPr>
          <p:cNvPr id="37" name="Text 29"/>
          <p:cNvSpPr/>
          <p:nvPr/>
        </p:nvSpPr>
        <p:spPr>
          <a:xfrm>
            <a:off x="7429500" y="2212848"/>
            <a:ext cx="1143000" cy="274320"/>
          </a:xfrm>
          <a:prstGeom prst="rect">
            <a:avLst/>
          </a:prstGeom>
          <a:noFill/>
          <a:ln/>
        </p:spPr>
        <p:txBody>
          <a:bodyPr wrap="square" lIns="0" tIns="0" rIns="0" bIns="0" rtlCol="0" anchor="ctr"/>
          <a:lstStyle/>
          <a:p>
            <a:pPr algn="ctr" indent="0" marL="0">
              <a:buNone/>
            </a:pPr>
            <a:r>
              <a:rPr lang="en-US" sz="1300" b="1" dirty="0">
                <a:solidFill>
                  <a:srgbClr val="93A1A1"/>
                </a:solidFill>
                <a:latin typeface="Trebuchet MS" pitchFamily="34" charset="0"/>
                <a:ea typeface="Trebuchet MS" pitchFamily="34" charset="-122"/>
                <a:cs typeface="Trebuchet MS" pitchFamily="34" charset="-120"/>
              </a:rPr>
              <a:t>Deploy</a:t>
            </a:r>
            <a:endParaRPr lang="en-US" sz="1300" dirty="0"/>
          </a:p>
        </p:txBody>
      </p:sp>
      <p:sp>
        <p:nvSpPr>
          <p:cNvPr id="38" name="Text 30"/>
          <p:cNvSpPr/>
          <p:nvPr/>
        </p:nvSpPr>
        <p:spPr>
          <a:xfrm>
            <a:off x="7520940" y="2514600"/>
            <a:ext cx="960120" cy="457200"/>
          </a:xfrm>
          <a:prstGeom prst="rect">
            <a:avLst/>
          </a:prstGeom>
          <a:noFill/>
          <a:ln/>
        </p:spPr>
        <p:txBody>
          <a:bodyPr wrap="square" lIns="0" tIns="0" rIns="0" bIns="0" rtlCol="0" anchor="ctr"/>
          <a:lstStyle/>
          <a:p>
            <a:pPr algn="ctr" indent="0" marL="0">
              <a:lnSpc>
                <a:spcPct val="130000"/>
              </a:lnSpc>
              <a:buNone/>
            </a:pPr>
            <a:r>
              <a:rPr lang="en-US" sz="800" dirty="0">
                <a:solidFill>
                  <a:srgbClr val="93A1A1"/>
                </a:solidFill>
                <a:latin typeface="Calibri" pitchFamily="34" charset="0"/>
                <a:ea typeface="Calibri" pitchFamily="34" charset="-122"/>
                <a:cs typeface="Calibri" pitchFamily="34" charset="-120"/>
              </a:rPr>
              <a:t>AWS, Vercel, Docker</a:t>
            </a:r>
            <a:endParaRPr lang="en-US" sz="800" dirty="0"/>
          </a:p>
        </p:txBody>
      </p:sp>
      <p:sp>
        <p:nvSpPr>
          <p:cNvPr id="39" name="Shape 31"/>
          <p:cNvSpPr/>
          <p:nvPr/>
        </p:nvSpPr>
        <p:spPr>
          <a:xfrm>
            <a:off x="571500" y="3246120"/>
            <a:ext cx="3886200" cy="36576"/>
          </a:xfrm>
          <a:prstGeom prst="rect">
            <a:avLst/>
          </a:prstGeom>
          <a:solidFill>
            <a:srgbClr val="268BD2"/>
          </a:solidFill>
          <a:ln/>
        </p:spPr>
      </p:sp>
      <p:sp>
        <p:nvSpPr>
          <p:cNvPr id="40" name="Text 32"/>
          <p:cNvSpPr/>
          <p:nvPr/>
        </p:nvSpPr>
        <p:spPr>
          <a:xfrm>
            <a:off x="571500" y="3337560"/>
            <a:ext cx="3886200" cy="320040"/>
          </a:xfrm>
          <a:prstGeom prst="rect">
            <a:avLst/>
          </a:prstGeom>
          <a:noFill/>
          <a:ln/>
        </p:spPr>
        <p:txBody>
          <a:bodyPr wrap="square" lIns="0" tIns="0" rIns="0" bIns="0" rtlCol="0" anchor="ctr"/>
          <a:lstStyle/>
          <a:p>
            <a:pPr algn="ctr" indent="0" marL="0">
              <a:buNone/>
            </a:pPr>
            <a:r>
              <a:rPr lang="en-US" sz="1200" b="1" dirty="0">
                <a:solidFill>
                  <a:srgbClr val="268BD2"/>
                </a:solidFill>
                <a:latin typeface="Trebuchet MS" pitchFamily="34" charset="0"/>
                <a:ea typeface="Trebuchet MS" pitchFamily="34" charset="-122"/>
                <a:cs typeface="Trebuchet MS" pitchFamily="34" charset="-120"/>
              </a:rPr>
              <a:t>Today's Focus: Design → Code Handoff</a:t>
            </a:r>
            <a:endParaRPr lang="en-US" sz="1200" dirty="0"/>
          </a:p>
        </p:txBody>
      </p:sp>
      <p:sp>
        <p:nvSpPr>
          <p:cNvPr id="41" name="Shape 33"/>
          <p:cNvSpPr/>
          <p:nvPr/>
        </p:nvSpPr>
        <p:spPr>
          <a:xfrm>
            <a:off x="731520" y="3840480"/>
            <a:ext cx="7680960" cy="1005840"/>
          </a:xfrm>
          <a:prstGeom prst="rect">
            <a:avLst/>
          </a:prstGeom>
          <a:solidFill>
            <a:srgbClr val="F0F9FF"/>
          </a:solidFill>
          <a:ln w="12700">
            <a:solidFill>
              <a:srgbClr val="BFDBFE"/>
            </a:solidFill>
            <a:prstDash val="solid"/>
          </a:ln>
        </p:spPr>
      </p:sp>
      <p:sp>
        <p:nvSpPr>
          <p:cNvPr id="42" name="Text 34"/>
          <p:cNvSpPr/>
          <p:nvPr/>
        </p:nvSpPr>
        <p:spPr>
          <a:xfrm>
            <a:off x="914400" y="3931920"/>
            <a:ext cx="7315200" cy="822960"/>
          </a:xfrm>
          <a:prstGeom prst="rect">
            <a:avLst/>
          </a:prstGeom>
          <a:noFill/>
          <a:ln/>
        </p:spPr>
        <p:txBody>
          <a:bodyPr wrap="square" lIns="0" tIns="0" rIns="0" bIns="0" rtlCol="0" anchor="ctr"/>
          <a:lstStyle/>
          <a:p>
            <a:pPr indent="0" marL="0">
              <a:lnSpc>
                <a:spcPct val="140000"/>
              </a:lnSpc>
              <a:buNone/>
            </a:pPr>
            <a:r>
              <a:rPr lang="en-US" sz="1200" b="1" dirty="0">
                <a:solidFill>
                  <a:srgbClr val="1A202C"/>
                </a:solidFill>
                <a:latin typeface="Calibri" pitchFamily="34" charset="0"/>
                <a:ea typeface="Calibri" pitchFamily="34" charset="-122"/>
                <a:cs typeface="Calibri" pitchFamily="34" charset="-120"/>
              </a:rPr>
              <a:t>We'll touch on both Planning and Design</a:t>
            </a:r>
            <a:pPr indent="0" marL="0">
              <a:lnSpc>
                <a:spcPct val="140000"/>
              </a:lnSpc>
              <a:buNone/>
            </a:pPr>
            <a:r>
              <a:rPr lang="en-US" sz="1200" dirty="0">
                <a:solidFill>
                  <a:srgbClr val="4A5568"/>
                </a:solidFill>
                <a:latin typeface="Calibri" pitchFamily="34" charset="0"/>
                <a:ea typeface="Calibri" pitchFamily="34" charset="-122"/>
                <a:cs typeface="Calibri" pitchFamily="34" charset="-120"/>
              </a:rPr>
              <a:t> — they happen in parallel and inform each other. But our deep dive is the </a:t>
            </a:r>
            <a:pPr indent="0" marL="0">
              <a:lnSpc>
                <a:spcPct val="140000"/>
              </a:lnSpc>
              <a:buNone/>
            </a:pPr>
            <a:r>
              <a:rPr lang="en-US" sz="1200" b="1" dirty="0">
                <a:solidFill>
                  <a:srgbClr val="268BD2"/>
                </a:solidFill>
                <a:latin typeface="Calibri" pitchFamily="34" charset="0"/>
                <a:ea typeface="Calibri" pitchFamily="34" charset="-122"/>
                <a:cs typeface="Calibri" pitchFamily="34" charset="-120"/>
              </a:rPr>
              <a:t>Design → Develop</a:t>
            </a:r>
            <a:pPr indent="0" marL="0">
              <a:lnSpc>
                <a:spcPct val="140000"/>
              </a:lnSpc>
              <a:buNone/>
            </a:pPr>
            <a:r>
              <a:rPr lang="en-US" sz="1200" dirty="0">
                <a:solidFill>
                  <a:srgbClr val="4A5568"/>
                </a:solidFill>
                <a:latin typeface="Calibri" pitchFamily="34" charset="0"/>
                <a:ea typeface="Calibri" pitchFamily="34" charset="-122"/>
                <a:cs typeface="Calibri" pitchFamily="34" charset="-120"/>
              </a:rPr>
              <a:t> handoff: that's where weeks of rework hide, and where Cursor changes the game.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411480"/>
          </a:xfrm>
          <a:prstGeom prst="rect">
            <a:avLst/>
          </a:prstGeom>
          <a:noFill/>
          <a:ln/>
        </p:spPr>
        <p:txBody>
          <a:bodyPr wrap="square" lIns="0" tIns="0" rIns="0" bIns="0" rtlCol="0" anchor="ctr"/>
          <a:lstStyle/>
          <a:p>
            <a:pPr indent="0" marL="0">
              <a:buNone/>
            </a:pPr>
            <a:r>
              <a:rPr lang="en-US" sz="2600" b="1" dirty="0">
                <a:solidFill>
                  <a:srgbClr val="1A202C"/>
                </a:solidFill>
                <a:latin typeface="Trebuchet MS" pitchFamily="34" charset="0"/>
                <a:ea typeface="Trebuchet MS" pitchFamily="34" charset="-122"/>
                <a:cs typeface="Trebuchet MS" pitchFamily="34" charset="-120"/>
              </a:rPr>
              <a:t>What Design-to-Code Looks Like Today</a:t>
            </a:r>
            <a:endParaRPr lang="en-US" sz="2600" dirty="0"/>
          </a:p>
        </p:txBody>
      </p:sp>
      <p:sp>
        <p:nvSpPr>
          <p:cNvPr id="3" name="Text 1"/>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3A1A1"/>
                </a:solidFill>
                <a:latin typeface="Calibri" pitchFamily="34" charset="0"/>
                <a:ea typeface="Calibri" pitchFamily="34" charset="-122"/>
                <a:cs typeface="Calibri" pitchFamily="34" charset="-120"/>
              </a:rPr>
              <a:t>The handoff gap is where weeks of back-and-forth happen</a:t>
            </a:r>
            <a:endParaRPr lang="en-US" sz="1300" dirty="0"/>
          </a:p>
        </p:txBody>
      </p:sp>
      <p:sp>
        <p:nvSpPr>
          <p:cNvPr id="4" name="Shape 2"/>
          <p:cNvSpPr/>
          <p:nvPr/>
        </p:nvSpPr>
        <p:spPr>
          <a:xfrm>
            <a:off x="457200" y="1097280"/>
            <a:ext cx="1143000" cy="1051560"/>
          </a:xfrm>
          <a:prstGeom prst="rect">
            <a:avLst/>
          </a:prstGeom>
          <a:solidFill>
            <a:srgbClr val="F1F5F9"/>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5" name="Text 3"/>
          <p:cNvSpPr/>
          <p:nvPr/>
        </p:nvSpPr>
        <p:spPr>
          <a:xfrm>
            <a:off x="457200" y="1170432"/>
            <a:ext cx="1143000" cy="274320"/>
          </a:xfrm>
          <a:prstGeom prst="rect">
            <a:avLst/>
          </a:prstGeom>
          <a:noFill/>
          <a:ln/>
        </p:spPr>
        <p:txBody>
          <a:bodyPr wrap="square" lIns="0" tIns="0" rIns="0" bIns="0" rtlCol="0" anchor="ctr"/>
          <a:lstStyle/>
          <a:p>
            <a:pPr algn="ctr" indent="0" marL="0">
              <a:buNone/>
            </a:pPr>
            <a:r>
              <a:rPr lang="en-US" sz="1100" b="1" dirty="0">
                <a:solidFill>
                  <a:srgbClr val="1A202C"/>
                </a:solidFill>
                <a:latin typeface="Trebuchet MS" pitchFamily="34" charset="0"/>
                <a:ea typeface="Trebuchet MS" pitchFamily="34" charset="-122"/>
                <a:cs typeface="Trebuchet MS" pitchFamily="34" charset="-120"/>
              </a:rPr>
              <a:t>Designer</a:t>
            </a:r>
            <a:endParaRPr lang="en-US" sz="1100" dirty="0"/>
          </a:p>
        </p:txBody>
      </p:sp>
      <p:sp>
        <p:nvSpPr>
          <p:cNvPr id="6" name="Text 4"/>
          <p:cNvSpPr/>
          <p:nvPr/>
        </p:nvSpPr>
        <p:spPr>
          <a:xfrm>
            <a:off x="502920" y="1444752"/>
            <a:ext cx="1051560" cy="594360"/>
          </a:xfrm>
          <a:prstGeom prst="rect">
            <a:avLst/>
          </a:prstGeom>
          <a:noFill/>
          <a:ln/>
        </p:spPr>
        <p:txBody>
          <a:bodyPr wrap="square" lIns="0" tIns="0" rIns="0" bIns="0" rtlCol="0" anchor="ctr"/>
          <a:lstStyle/>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Creates mockup</a:t>
            </a:r>
            <a:endParaRPr lang="en-US" sz="850" dirty="0"/>
          </a:p>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in Figma</a:t>
            </a:r>
            <a:endParaRPr lang="en-US" sz="850" dirty="0"/>
          </a:p>
        </p:txBody>
      </p:sp>
      <p:sp>
        <p:nvSpPr>
          <p:cNvPr id="7" name="Text 5"/>
          <p:cNvSpPr/>
          <p:nvPr/>
        </p:nvSpPr>
        <p:spPr>
          <a:xfrm>
            <a:off x="1600200" y="1325880"/>
            <a:ext cx="274320" cy="457200"/>
          </a:xfrm>
          <a:prstGeom prst="rect">
            <a:avLst/>
          </a:prstGeom>
          <a:noFill/>
          <a:ln/>
        </p:spPr>
        <p:txBody>
          <a:bodyPr wrap="square" lIns="0" tIns="0" rIns="0" bIns="0" rtlCol="0" anchor="ctr"/>
          <a:lstStyle/>
          <a:p>
            <a:pPr algn="ctr" indent="0" marL="0">
              <a:buNone/>
            </a:pPr>
            <a:r>
              <a:rPr lang="en-US" sz="1600" dirty="0">
                <a:solidFill>
                  <a:srgbClr val="93A1A1"/>
                </a:solidFill>
              </a:rPr>
              <a:t>→</a:t>
            </a:r>
            <a:endParaRPr lang="en-US" sz="1600" dirty="0"/>
          </a:p>
        </p:txBody>
      </p:sp>
      <p:sp>
        <p:nvSpPr>
          <p:cNvPr id="8" name="Shape 6"/>
          <p:cNvSpPr/>
          <p:nvPr/>
        </p:nvSpPr>
        <p:spPr>
          <a:xfrm>
            <a:off x="1874520" y="1097280"/>
            <a:ext cx="1143000" cy="1051560"/>
          </a:xfrm>
          <a:prstGeom prst="rect">
            <a:avLst/>
          </a:prstGeom>
          <a:solidFill>
            <a:srgbClr val="F1F5F9"/>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9" name="Text 7"/>
          <p:cNvSpPr/>
          <p:nvPr/>
        </p:nvSpPr>
        <p:spPr>
          <a:xfrm>
            <a:off x="1874520" y="1170432"/>
            <a:ext cx="1143000" cy="274320"/>
          </a:xfrm>
          <a:prstGeom prst="rect">
            <a:avLst/>
          </a:prstGeom>
          <a:noFill/>
          <a:ln/>
        </p:spPr>
        <p:txBody>
          <a:bodyPr wrap="square" lIns="0" tIns="0" rIns="0" bIns="0" rtlCol="0" anchor="ctr"/>
          <a:lstStyle/>
          <a:p>
            <a:pPr algn="ctr" indent="0" marL="0">
              <a:buNone/>
            </a:pPr>
            <a:r>
              <a:rPr lang="en-US" sz="1100" b="1" dirty="0">
                <a:solidFill>
                  <a:srgbClr val="1A202C"/>
                </a:solidFill>
                <a:latin typeface="Trebuchet MS" pitchFamily="34" charset="0"/>
                <a:ea typeface="Trebuchet MS" pitchFamily="34" charset="-122"/>
                <a:cs typeface="Trebuchet MS" pitchFamily="34" charset="-120"/>
              </a:rPr>
              <a:t>Design System</a:t>
            </a:r>
            <a:endParaRPr lang="en-US" sz="1100" dirty="0"/>
          </a:p>
        </p:txBody>
      </p:sp>
      <p:sp>
        <p:nvSpPr>
          <p:cNvPr id="10" name="Text 8"/>
          <p:cNvSpPr/>
          <p:nvPr/>
        </p:nvSpPr>
        <p:spPr>
          <a:xfrm>
            <a:off x="1920240" y="1444752"/>
            <a:ext cx="1051560" cy="594360"/>
          </a:xfrm>
          <a:prstGeom prst="rect">
            <a:avLst/>
          </a:prstGeom>
          <a:noFill/>
          <a:ln/>
        </p:spPr>
        <p:txBody>
          <a:bodyPr wrap="square" lIns="0" tIns="0" rIns="0" bIns="0" rtlCol="0" anchor="ctr"/>
          <a:lstStyle/>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Buttons, dropdowns,</a:t>
            </a:r>
            <a:endParaRPr lang="en-US" sz="850" dirty="0"/>
          </a:p>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cards...</a:t>
            </a:r>
            <a:endParaRPr lang="en-US" sz="850" dirty="0"/>
          </a:p>
        </p:txBody>
      </p:sp>
      <p:sp>
        <p:nvSpPr>
          <p:cNvPr id="11" name="Text 9"/>
          <p:cNvSpPr/>
          <p:nvPr/>
        </p:nvSpPr>
        <p:spPr>
          <a:xfrm>
            <a:off x="3017520" y="1325880"/>
            <a:ext cx="274320" cy="457200"/>
          </a:xfrm>
          <a:prstGeom prst="rect">
            <a:avLst/>
          </a:prstGeom>
          <a:noFill/>
          <a:ln/>
        </p:spPr>
        <p:txBody>
          <a:bodyPr wrap="square" lIns="0" tIns="0" rIns="0" bIns="0" rtlCol="0" anchor="ctr"/>
          <a:lstStyle/>
          <a:p>
            <a:pPr algn="ctr" indent="0" marL="0">
              <a:buNone/>
            </a:pPr>
            <a:r>
              <a:rPr lang="en-US" sz="1600" dirty="0">
                <a:solidFill>
                  <a:srgbClr val="93A1A1"/>
                </a:solidFill>
              </a:rPr>
              <a:t>→</a:t>
            </a:r>
            <a:endParaRPr lang="en-US" sz="1600" dirty="0"/>
          </a:p>
        </p:txBody>
      </p:sp>
      <p:sp>
        <p:nvSpPr>
          <p:cNvPr id="12" name="Shape 10"/>
          <p:cNvSpPr/>
          <p:nvPr/>
        </p:nvSpPr>
        <p:spPr>
          <a:xfrm>
            <a:off x="3291840" y="1097280"/>
            <a:ext cx="1143000" cy="1051560"/>
          </a:xfrm>
          <a:prstGeom prst="rect">
            <a:avLst/>
          </a:prstGeom>
          <a:solidFill>
            <a:srgbClr val="F1F5F9"/>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13" name="Text 11"/>
          <p:cNvSpPr/>
          <p:nvPr/>
        </p:nvSpPr>
        <p:spPr>
          <a:xfrm>
            <a:off x="3291840" y="1170432"/>
            <a:ext cx="1143000" cy="274320"/>
          </a:xfrm>
          <a:prstGeom prst="rect">
            <a:avLst/>
          </a:prstGeom>
          <a:noFill/>
          <a:ln/>
        </p:spPr>
        <p:txBody>
          <a:bodyPr wrap="square" lIns="0" tIns="0" rIns="0" bIns="0" rtlCol="0" anchor="ctr"/>
          <a:lstStyle/>
          <a:p>
            <a:pPr algn="ctr" indent="0" marL="0">
              <a:buNone/>
            </a:pPr>
            <a:r>
              <a:rPr lang="en-US" sz="1100" b="1" dirty="0">
                <a:solidFill>
                  <a:srgbClr val="1A202C"/>
                </a:solidFill>
                <a:latin typeface="Trebuchet MS" pitchFamily="34" charset="0"/>
                <a:ea typeface="Trebuchet MS" pitchFamily="34" charset="-122"/>
                <a:cs typeface="Trebuchet MS" pitchFamily="34" charset="-120"/>
              </a:rPr>
              <a:t>Mockup</a:t>
            </a:r>
            <a:endParaRPr lang="en-US" sz="1100" dirty="0"/>
          </a:p>
        </p:txBody>
      </p:sp>
      <p:sp>
        <p:nvSpPr>
          <p:cNvPr id="14" name="Text 12"/>
          <p:cNvSpPr/>
          <p:nvPr/>
        </p:nvSpPr>
        <p:spPr>
          <a:xfrm>
            <a:off x="3337560" y="1444752"/>
            <a:ext cx="1051560" cy="594360"/>
          </a:xfrm>
          <a:prstGeom prst="rect">
            <a:avLst/>
          </a:prstGeom>
          <a:noFill/>
          <a:ln/>
        </p:spPr>
        <p:txBody>
          <a:bodyPr wrap="square" lIns="0" tIns="0" rIns="0" bIns="0" rtlCol="0" anchor="ctr"/>
          <a:lstStyle/>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Looks exactly</a:t>
            </a:r>
            <a:endParaRPr lang="en-US" sz="850" dirty="0"/>
          </a:p>
          <a:p>
            <a:pPr algn="ctr" indent="0" marL="0">
              <a:lnSpc>
                <a:spcPct val="120000"/>
              </a:lnSpc>
              <a:buNone/>
            </a:pPr>
            <a:r>
              <a:rPr lang="en-US" sz="850" dirty="0">
                <a:solidFill>
                  <a:srgbClr val="93A1A1"/>
                </a:solidFill>
                <a:latin typeface="Calibri" pitchFamily="34" charset="0"/>
                <a:ea typeface="Calibri" pitchFamily="34" charset="-122"/>
                <a:cs typeface="Calibri" pitchFamily="34" charset="-120"/>
              </a:rPr>
              <a:t>right</a:t>
            </a:r>
            <a:endParaRPr lang="en-US" sz="850" dirty="0"/>
          </a:p>
        </p:txBody>
      </p:sp>
      <p:sp>
        <p:nvSpPr>
          <p:cNvPr id="15" name="Text 13"/>
          <p:cNvSpPr/>
          <p:nvPr/>
        </p:nvSpPr>
        <p:spPr>
          <a:xfrm>
            <a:off x="4434840" y="1325880"/>
            <a:ext cx="274320" cy="457200"/>
          </a:xfrm>
          <a:prstGeom prst="rect">
            <a:avLst/>
          </a:prstGeom>
          <a:noFill/>
          <a:ln/>
        </p:spPr>
        <p:txBody>
          <a:bodyPr wrap="square" lIns="0" tIns="0" rIns="0" bIns="0" rtlCol="0" anchor="ctr"/>
          <a:lstStyle/>
          <a:p>
            <a:pPr algn="ctr" indent="0" marL="0">
              <a:buNone/>
            </a:pPr>
            <a:r>
              <a:rPr lang="en-US" sz="1600" dirty="0">
                <a:solidFill>
                  <a:srgbClr val="93A1A1"/>
                </a:solidFill>
              </a:rPr>
              <a:t>→</a:t>
            </a:r>
            <a:endParaRPr lang="en-US" sz="1600" dirty="0"/>
          </a:p>
        </p:txBody>
      </p:sp>
      <p:sp>
        <p:nvSpPr>
          <p:cNvPr id="16" name="Shape 14"/>
          <p:cNvSpPr/>
          <p:nvPr/>
        </p:nvSpPr>
        <p:spPr>
          <a:xfrm>
            <a:off x="4709160" y="1097280"/>
            <a:ext cx="1143000" cy="1051560"/>
          </a:xfrm>
          <a:prstGeom prst="rect">
            <a:avLst/>
          </a:prstGeom>
          <a:solidFill>
            <a:srgbClr val="FEF2F2"/>
          </a:solidFill>
          <a:ln w="25400">
            <a:solidFill>
              <a:srgbClr val="DC322F"/>
            </a:solidFill>
            <a:prstDash val="dash"/>
          </a:ln>
        </p:spPr>
      </p:sp>
      <p:sp>
        <p:nvSpPr>
          <p:cNvPr id="17" name="Text 15"/>
          <p:cNvSpPr/>
          <p:nvPr/>
        </p:nvSpPr>
        <p:spPr>
          <a:xfrm>
            <a:off x="4709160" y="1170432"/>
            <a:ext cx="1143000" cy="274320"/>
          </a:xfrm>
          <a:prstGeom prst="rect">
            <a:avLst/>
          </a:prstGeom>
          <a:noFill/>
          <a:ln/>
        </p:spPr>
        <p:txBody>
          <a:bodyPr wrap="square" lIns="0" tIns="0" rIns="0" bIns="0" rtlCol="0" anchor="ctr"/>
          <a:lstStyle/>
          <a:p>
            <a:pPr algn="ctr" indent="0" marL="0">
              <a:buNone/>
            </a:pPr>
            <a:r>
              <a:rPr lang="en-US" sz="1100" b="1" dirty="0">
                <a:solidFill>
                  <a:srgbClr val="DC322F"/>
                </a:solidFill>
                <a:latin typeface="Trebuchet MS" pitchFamily="34" charset="0"/>
                <a:ea typeface="Trebuchet MS" pitchFamily="34" charset="-122"/>
                <a:cs typeface="Trebuchet MS" pitchFamily="34" charset="-120"/>
              </a:rPr>
              <a:t>THE GAP</a:t>
            </a:r>
            <a:endParaRPr lang="en-US" sz="1100" dirty="0"/>
          </a:p>
        </p:txBody>
      </p:sp>
      <p:sp>
        <p:nvSpPr>
          <p:cNvPr id="18" name="Text 16"/>
          <p:cNvSpPr/>
          <p:nvPr/>
        </p:nvSpPr>
        <p:spPr>
          <a:xfrm>
            <a:off x="4754880" y="1444752"/>
            <a:ext cx="1051560" cy="594360"/>
          </a:xfrm>
          <a:prstGeom prst="rect">
            <a:avLst/>
          </a:prstGeom>
          <a:noFill/>
          <a:ln/>
        </p:spPr>
        <p:txBody>
          <a:bodyPr wrap="square" lIns="0" tIns="0" rIns="0" bIns="0" rtlCol="0" anchor="ctr"/>
          <a:lstStyle/>
          <a:p>
            <a:pPr algn="ctr" indent="0" marL="0">
              <a:lnSpc>
                <a:spcPct val="120000"/>
              </a:lnSpc>
              <a:buNone/>
            </a:pPr>
            <a:r>
              <a:rPr lang="en-US" sz="850" dirty="0">
                <a:solidFill>
                  <a:srgbClr val="DC322F"/>
                </a:solidFill>
                <a:latin typeface="Calibri" pitchFamily="34" charset="0"/>
                <a:ea typeface="Calibri" pitchFamily="34" charset="-122"/>
                <a:cs typeface="Calibri" pitchFamily="34" charset="-120"/>
              </a:rPr>
              <a:t>Handoff,</a:t>
            </a:r>
            <a:endParaRPr lang="en-US" sz="850" dirty="0"/>
          </a:p>
          <a:p>
            <a:pPr algn="ctr" indent="0" marL="0">
              <a:lnSpc>
                <a:spcPct val="120000"/>
              </a:lnSpc>
              <a:buNone/>
            </a:pPr>
            <a:r>
              <a:rPr lang="en-US" sz="850" dirty="0">
                <a:solidFill>
                  <a:srgbClr val="DC322F"/>
                </a:solidFill>
                <a:latin typeface="Calibri" pitchFamily="34" charset="0"/>
                <a:ea typeface="Calibri" pitchFamily="34" charset="-122"/>
                <a:cs typeface="Calibri" pitchFamily="34" charset="-120"/>
              </a:rPr>
              <a:t>rework</a:t>
            </a:r>
            <a:endParaRPr lang="en-US" sz="850" dirty="0"/>
          </a:p>
        </p:txBody>
      </p:sp>
      <p:sp>
        <p:nvSpPr>
          <p:cNvPr id="19" name="Text 17"/>
          <p:cNvSpPr/>
          <p:nvPr/>
        </p:nvSpPr>
        <p:spPr>
          <a:xfrm>
            <a:off x="5852160" y="1325880"/>
            <a:ext cx="274320" cy="457200"/>
          </a:xfrm>
          <a:prstGeom prst="rect">
            <a:avLst/>
          </a:prstGeom>
          <a:noFill/>
          <a:ln/>
        </p:spPr>
        <p:txBody>
          <a:bodyPr wrap="square" lIns="0" tIns="0" rIns="0" bIns="0" rtlCol="0" anchor="ctr"/>
          <a:lstStyle/>
          <a:p>
            <a:pPr algn="ctr" indent="0" marL="0">
              <a:buNone/>
            </a:pPr>
            <a:r>
              <a:rPr lang="en-US" sz="1600" dirty="0">
                <a:solidFill>
                  <a:srgbClr val="93A1A1"/>
                </a:solidFill>
              </a:rPr>
              <a:t>→</a:t>
            </a:r>
            <a:endParaRPr lang="en-US" sz="1600" dirty="0"/>
          </a:p>
        </p:txBody>
      </p:sp>
      <p:sp>
        <p:nvSpPr>
          <p:cNvPr id="20" name="Text 18"/>
          <p:cNvSpPr/>
          <p:nvPr/>
        </p:nvSpPr>
        <p:spPr>
          <a:xfrm>
            <a:off x="5715000" y="1463040"/>
            <a:ext cx="320040" cy="457200"/>
          </a:xfrm>
          <a:prstGeom prst="rect">
            <a:avLst/>
          </a:prstGeom>
          <a:noFill/>
          <a:ln/>
        </p:spPr>
        <p:txBody>
          <a:bodyPr wrap="square" lIns="0" tIns="0" rIns="0" bIns="0" rtlCol="0" anchor="ctr"/>
          <a:lstStyle/>
          <a:p>
            <a:pPr algn="ctr" indent="0" marL="0">
              <a:buNone/>
            </a:pPr>
            <a:r>
              <a:rPr lang="en-US" sz="1600" dirty="0">
                <a:solidFill>
                  <a:srgbClr val="93A1A1"/>
                </a:solidFill>
              </a:rPr>
              <a:t>→</a:t>
            </a:r>
            <a:endParaRPr lang="en-US" sz="1600" dirty="0"/>
          </a:p>
        </p:txBody>
      </p:sp>
      <p:sp>
        <p:nvSpPr>
          <p:cNvPr id="21" name="Shape 19"/>
          <p:cNvSpPr/>
          <p:nvPr/>
        </p:nvSpPr>
        <p:spPr>
          <a:xfrm>
            <a:off x="5989320" y="1051560"/>
            <a:ext cx="2743200" cy="777240"/>
          </a:xfrm>
          <a:prstGeom prst="rect">
            <a:avLst/>
          </a:prstGeom>
          <a:solidFill>
            <a:srgbClr val="FEF2F2"/>
          </a:solidFill>
          <a:ln w="19050">
            <a:solidFill>
              <a:srgbClr val="DC322F"/>
            </a:solidFill>
            <a:prstDash val="solid"/>
          </a:ln>
        </p:spPr>
      </p:sp>
      <p:sp>
        <p:nvSpPr>
          <p:cNvPr id="22" name="Text 20"/>
          <p:cNvSpPr/>
          <p:nvPr/>
        </p:nvSpPr>
        <p:spPr>
          <a:xfrm>
            <a:off x="5989320" y="1097280"/>
            <a:ext cx="2743200" cy="164592"/>
          </a:xfrm>
          <a:prstGeom prst="rect">
            <a:avLst/>
          </a:prstGeom>
          <a:noFill/>
          <a:ln/>
        </p:spPr>
        <p:txBody>
          <a:bodyPr wrap="square" lIns="0" tIns="0" rIns="0" bIns="0" rtlCol="0" anchor="ctr"/>
          <a:lstStyle/>
          <a:p>
            <a:pPr algn="ctr" indent="0" marL="0">
              <a:buNone/>
            </a:pPr>
            <a:r>
              <a:rPr lang="en-US" sz="700" b="1" dirty="0">
                <a:solidFill>
                  <a:srgbClr val="DC322F"/>
                </a:solidFill>
                <a:latin typeface="Calibri" pitchFamily="34" charset="0"/>
                <a:ea typeface="Calibri" pitchFamily="34" charset="-122"/>
                <a:cs typeface="Calibri" pitchFamily="34" charset="-120"/>
              </a:rPr>
              <a:t>WITHOUT CURSOR</a:t>
            </a:r>
            <a:endParaRPr lang="en-US" sz="700" dirty="0"/>
          </a:p>
        </p:txBody>
      </p:sp>
      <p:sp>
        <p:nvSpPr>
          <p:cNvPr id="23" name="Text 21"/>
          <p:cNvSpPr/>
          <p:nvPr/>
        </p:nvSpPr>
        <p:spPr>
          <a:xfrm>
            <a:off x="6080760" y="1261872"/>
            <a:ext cx="2560320" cy="182880"/>
          </a:xfrm>
          <a:prstGeom prst="rect">
            <a:avLst/>
          </a:prstGeom>
          <a:noFill/>
          <a:ln/>
        </p:spPr>
        <p:txBody>
          <a:bodyPr wrap="square" lIns="0" tIns="0" rIns="0" bIns="0" rtlCol="0" anchor="ctr"/>
          <a:lstStyle/>
          <a:p>
            <a:pPr indent="0" marL="0">
              <a:buNone/>
            </a:pPr>
            <a:r>
              <a:rPr lang="en-US" sz="1000" b="1" dirty="0">
                <a:solidFill>
                  <a:srgbClr val="DC322F"/>
                </a:solidFill>
                <a:latin typeface="Trebuchet MS" pitchFamily="34" charset="0"/>
                <a:ea typeface="Trebuchet MS" pitchFamily="34" charset="-122"/>
                <a:cs typeface="Trebuchet MS" pitchFamily="34" charset="-120"/>
              </a:rPr>
              <a:t>Engineer rebuilds from scratch</a:t>
            </a:r>
            <a:endParaRPr lang="en-US" sz="1000" dirty="0"/>
          </a:p>
        </p:txBody>
      </p:sp>
      <p:sp>
        <p:nvSpPr>
          <p:cNvPr id="24" name="Text 22"/>
          <p:cNvSpPr/>
          <p:nvPr/>
        </p:nvSpPr>
        <p:spPr>
          <a:xfrm>
            <a:off x="6080760" y="1444752"/>
            <a:ext cx="2560320" cy="320040"/>
          </a:xfrm>
          <a:prstGeom prst="rect">
            <a:avLst/>
          </a:prstGeom>
          <a:noFill/>
          <a:ln/>
        </p:spPr>
        <p:txBody>
          <a:bodyPr wrap="square" lIns="0" tIns="0" rIns="0" bIns="0" rtlCol="0" anchor="ctr"/>
          <a:lstStyle/>
          <a:p>
            <a:pPr indent="0" marL="0">
              <a:lnSpc>
                <a:spcPct val="120000"/>
              </a:lnSpc>
              <a:buNone/>
            </a:pPr>
            <a:r>
              <a:rPr lang="en-US" sz="850" dirty="0">
                <a:solidFill>
                  <a:srgbClr val="93A1A1"/>
                </a:solidFill>
                <a:latin typeface="Calibri" pitchFamily="34" charset="0"/>
                <a:ea typeface="Calibri" pitchFamily="34" charset="-122"/>
                <a:cs typeface="Calibri" pitchFamily="34" charset="-120"/>
              </a:rPr>
              <a:t>Manually recreates the design. Weeks of back-and-forth.</a:t>
            </a:r>
            <a:endParaRPr lang="en-US" sz="850" dirty="0"/>
          </a:p>
        </p:txBody>
      </p:sp>
      <p:sp>
        <p:nvSpPr>
          <p:cNvPr id="25" name="Text 23"/>
          <p:cNvSpPr/>
          <p:nvPr/>
        </p:nvSpPr>
        <p:spPr>
          <a:xfrm>
            <a:off x="5989320" y="1810512"/>
            <a:ext cx="2743200" cy="201168"/>
          </a:xfrm>
          <a:prstGeom prst="rect">
            <a:avLst/>
          </a:prstGeom>
          <a:noFill/>
          <a:ln/>
        </p:spPr>
        <p:txBody>
          <a:bodyPr wrap="square" lIns="0" tIns="0" rIns="0" bIns="0" rtlCol="0" anchor="ctr"/>
          <a:lstStyle/>
          <a:p>
            <a:pPr algn="ctr" indent="0" marL="0">
              <a:buNone/>
            </a:pPr>
            <a:r>
              <a:rPr lang="en-US" sz="800" b="1" dirty="0">
                <a:solidFill>
                  <a:srgbClr val="93A1A1"/>
                </a:solidFill>
                <a:latin typeface="Calibri" pitchFamily="34" charset="0"/>
                <a:ea typeface="Calibri" pitchFamily="34" charset="-122"/>
                <a:cs typeface="Calibri" pitchFamily="34" charset="-120"/>
              </a:rPr>
              <a:t>OR</a:t>
            </a:r>
            <a:endParaRPr lang="en-US" sz="800" dirty="0"/>
          </a:p>
        </p:txBody>
      </p:sp>
      <p:sp>
        <p:nvSpPr>
          <p:cNvPr id="26" name="Shape 24"/>
          <p:cNvSpPr/>
          <p:nvPr/>
        </p:nvSpPr>
        <p:spPr>
          <a:xfrm>
            <a:off x="5989320" y="1993392"/>
            <a:ext cx="2743200" cy="777240"/>
          </a:xfrm>
          <a:prstGeom prst="rect">
            <a:avLst/>
          </a:prstGeom>
          <a:solidFill>
            <a:srgbClr val="F0FDFA"/>
          </a:solidFill>
          <a:ln w="19050">
            <a:solidFill>
              <a:srgbClr val="2AA198"/>
            </a:solidFill>
            <a:prstDash val="solid"/>
          </a:ln>
        </p:spPr>
      </p:sp>
      <p:sp>
        <p:nvSpPr>
          <p:cNvPr id="27" name="Text 25"/>
          <p:cNvSpPr/>
          <p:nvPr/>
        </p:nvSpPr>
        <p:spPr>
          <a:xfrm>
            <a:off x="5989320" y="2039112"/>
            <a:ext cx="2743200" cy="164592"/>
          </a:xfrm>
          <a:prstGeom prst="rect">
            <a:avLst/>
          </a:prstGeom>
          <a:noFill/>
          <a:ln/>
        </p:spPr>
        <p:txBody>
          <a:bodyPr wrap="square" lIns="0" tIns="0" rIns="0" bIns="0" rtlCol="0" anchor="ctr"/>
          <a:lstStyle/>
          <a:p>
            <a:pPr algn="ctr" indent="0" marL="0">
              <a:buNone/>
            </a:pPr>
            <a:r>
              <a:rPr lang="en-US" sz="700" b="1" dirty="0">
                <a:solidFill>
                  <a:srgbClr val="2AA198"/>
                </a:solidFill>
                <a:latin typeface="Calibri" pitchFamily="34" charset="0"/>
                <a:ea typeface="Calibri" pitchFamily="34" charset="-122"/>
                <a:cs typeface="Calibri" pitchFamily="34" charset="-120"/>
              </a:rPr>
              <a:t>WITH CURSOR</a:t>
            </a:r>
            <a:endParaRPr lang="en-US" sz="700" dirty="0"/>
          </a:p>
        </p:txBody>
      </p:sp>
      <p:sp>
        <p:nvSpPr>
          <p:cNvPr id="28" name="Text 26"/>
          <p:cNvSpPr/>
          <p:nvPr/>
        </p:nvSpPr>
        <p:spPr>
          <a:xfrm>
            <a:off x="6080760" y="2203704"/>
            <a:ext cx="2560320" cy="182880"/>
          </a:xfrm>
          <a:prstGeom prst="rect">
            <a:avLst/>
          </a:prstGeom>
          <a:noFill/>
          <a:ln/>
        </p:spPr>
        <p:txBody>
          <a:bodyPr wrap="square" lIns="0" tIns="0" rIns="0" bIns="0" rtlCol="0" anchor="ctr"/>
          <a:lstStyle/>
          <a:p>
            <a:pPr indent="0" marL="0">
              <a:buNone/>
            </a:pPr>
            <a:r>
              <a:rPr lang="en-US" sz="1000" b="1" dirty="0">
                <a:solidFill>
                  <a:srgbClr val="2AA198"/>
                </a:solidFill>
                <a:latin typeface="Trebuchet MS" pitchFamily="34" charset="0"/>
                <a:ea typeface="Trebuchet MS" pitchFamily="34" charset="-122"/>
                <a:cs typeface="Trebuchet MS" pitchFamily="34" charset="-120"/>
              </a:rPr>
              <a:t>Design system → compatible code</a:t>
            </a:r>
            <a:endParaRPr lang="en-US" sz="1000" dirty="0"/>
          </a:p>
        </p:txBody>
      </p:sp>
      <p:sp>
        <p:nvSpPr>
          <p:cNvPr id="29" name="Text 27"/>
          <p:cNvSpPr/>
          <p:nvPr/>
        </p:nvSpPr>
        <p:spPr>
          <a:xfrm>
            <a:off x="6080760" y="2386584"/>
            <a:ext cx="2560320" cy="320040"/>
          </a:xfrm>
          <a:prstGeom prst="rect">
            <a:avLst/>
          </a:prstGeom>
          <a:noFill/>
          <a:ln/>
        </p:spPr>
        <p:txBody>
          <a:bodyPr wrap="square" lIns="0" tIns="0" rIns="0" bIns="0" rtlCol="0" anchor="ctr"/>
          <a:lstStyle/>
          <a:p>
            <a:pPr indent="0" marL="0">
              <a:lnSpc>
                <a:spcPct val="120000"/>
              </a:lnSpc>
              <a:buNone/>
            </a:pPr>
            <a:r>
              <a:rPr lang="en-US" sz="850" dirty="0">
                <a:solidFill>
                  <a:srgbClr val="93A1A1"/>
                </a:solidFill>
                <a:latin typeface="Calibri" pitchFamily="34" charset="0"/>
                <a:ea typeface="Calibri" pitchFamily="34" charset="-122"/>
                <a:cs typeface="Calibri" pitchFamily="34" charset="-120"/>
              </a:rPr>
              <a:t>Mockups translated directly. Designer iterates, engineer does final tweaks.</a:t>
            </a:r>
            <a:endParaRPr lang="en-US" sz="850" dirty="0"/>
          </a:p>
        </p:txBody>
      </p:sp>
      <p:sp>
        <p:nvSpPr>
          <p:cNvPr id="30" name="Shape 28"/>
          <p:cNvSpPr/>
          <p:nvPr/>
        </p:nvSpPr>
        <p:spPr>
          <a:xfrm>
            <a:off x="731520" y="3383280"/>
            <a:ext cx="7680960" cy="1463040"/>
          </a:xfrm>
          <a:prstGeom prst="rect">
            <a:avLst/>
          </a:prstGeom>
          <a:solidFill>
            <a:srgbClr val="F5F3FF"/>
          </a:solidFill>
          <a:ln w="12700">
            <a:solidFill>
              <a:srgbClr val="DDD6FE"/>
            </a:solidFill>
            <a:prstDash val="solid"/>
          </a:ln>
        </p:spPr>
      </p:sp>
      <p:pic>
        <p:nvPicPr>
          <p:cNvPr id="31" name="Image 0" descr="preencoded.png">    </p:cNvPr>
          <p:cNvPicPr>
            <a:picLocks noChangeAspect="1"/>
          </p:cNvPicPr>
          <p:nvPr/>
        </p:nvPicPr>
        <p:blipFill>
          <a:blip r:embed="rId1"/>
          <a:stretch>
            <a:fillRect/>
          </a:stretch>
        </p:blipFill>
        <p:spPr>
          <a:xfrm>
            <a:off x="868680" y="3520440"/>
            <a:ext cx="228600" cy="228600"/>
          </a:xfrm>
          <a:prstGeom prst="rect">
            <a:avLst/>
          </a:prstGeom>
        </p:spPr>
      </p:pic>
      <p:sp>
        <p:nvSpPr>
          <p:cNvPr id="32" name="Text 29"/>
          <p:cNvSpPr/>
          <p:nvPr/>
        </p:nvSpPr>
        <p:spPr>
          <a:xfrm>
            <a:off x="1188720" y="3474720"/>
            <a:ext cx="6949440" cy="914400"/>
          </a:xfrm>
          <a:prstGeom prst="rect">
            <a:avLst/>
          </a:prstGeom>
          <a:noFill/>
          <a:ln/>
        </p:spPr>
        <p:txBody>
          <a:bodyPr wrap="square" lIns="0" tIns="0" rIns="0" bIns="0" rtlCol="0" anchor="ctr"/>
          <a:lstStyle/>
          <a:p>
            <a:pPr indent="0" marL="0">
              <a:lnSpc>
                <a:spcPct val="140000"/>
              </a:lnSpc>
              <a:buNone/>
            </a:pPr>
            <a:r>
              <a:rPr lang="en-US" sz="1100" i="1" dirty="0">
                <a:solidFill>
                  <a:srgbClr val="4A5568"/>
                </a:solidFill>
                <a:latin typeface="Calibri" pitchFamily="34" charset="0"/>
                <a:ea typeface="Calibri" pitchFamily="34" charset="-122"/>
                <a:cs typeface="Calibri" pitchFamily="34" charset="-120"/>
              </a:rPr>
              <a:t>"We started by creating a sandbox for designers to play with... uploading screen captures to Cursor, asking it to recreate them. We got first results — OK-ish, but not so much. The output is not always design system compliant and tends to add extra CSS code, custom code. And this is an issue for us."</a:t>
            </a:r>
            <a:endParaRPr lang="en-US" sz="1100" dirty="0"/>
          </a:p>
        </p:txBody>
      </p:sp>
      <p:sp>
        <p:nvSpPr>
          <p:cNvPr id="33" name="Text 30"/>
          <p:cNvSpPr/>
          <p:nvPr/>
        </p:nvSpPr>
        <p:spPr>
          <a:xfrm>
            <a:off x="1188720" y="4389120"/>
            <a:ext cx="6400800" cy="274320"/>
          </a:xfrm>
          <a:prstGeom prst="rect">
            <a:avLst/>
          </a:prstGeom>
          <a:noFill/>
          <a:ln/>
        </p:spPr>
        <p:txBody>
          <a:bodyPr wrap="square" lIns="0" tIns="0" rIns="0" bIns="0" rtlCol="0" anchor="ctr"/>
          <a:lstStyle/>
          <a:p>
            <a:pPr indent="0" marL="0">
              <a:buNone/>
            </a:pPr>
            <a:r>
              <a:rPr lang="en-US" sz="1000" b="1" dirty="0">
                <a:solidFill>
                  <a:srgbClr val="6C71C4"/>
                </a:solidFill>
                <a:latin typeface="Calibri" pitchFamily="34" charset="0"/>
                <a:ea typeface="Calibri" pitchFamily="34" charset="-122"/>
                <a:cs typeface="Calibri" pitchFamily="34" charset="-120"/>
              </a:rPr>
              <a:t>— Caroline, Lead Design Ops at Sigma (Zen design system)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A202C"/>
                </a:solidFill>
                <a:latin typeface="Trebuchet MS" pitchFamily="34" charset="0"/>
                <a:ea typeface="Trebuchet MS" pitchFamily="34" charset="-122"/>
                <a:cs typeface="Trebuchet MS" pitchFamily="34" charset="-120"/>
              </a:rPr>
              <a:t>The Cursor Workflow</a:t>
            </a:r>
            <a:endParaRPr lang="en-US" sz="30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indent="0" marL="0">
              <a:buNone/>
            </a:pPr>
            <a:r>
              <a:rPr lang="en-US" sz="1300" dirty="0">
                <a:solidFill>
                  <a:srgbClr val="93A1A1"/>
                </a:solidFill>
                <a:latin typeface="Calibri" pitchFamily="34" charset="0"/>
                <a:ea typeface="Calibri" pitchFamily="34" charset="-122"/>
                <a:cs typeface="Calibri" pitchFamily="34" charset="-120"/>
              </a:rPr>
              <a:t>Designer and engineer work in parallel — on the same codebase, not in silos</a:t>
            </a:r>
            <a:endParaRPr lang="en-US" sz="1300" dirty="0"/>
          </a:p>
        </p:txBody>
      </p:sp>
      <p:sp>
        <p:nvSpPr>
          <p:cNvPr id="4" name="Shape 2"/>
          <p:cNvSpPr/>
          <p:nvPr/>
        </p:nvSpPr>
        <p:spPr>
          <a:xfrm>
            <a:off x="502920" y="1280160"/>
            <a:ext cx="1828800" cy="2560320"/>
          </a:xfrm>
          <a:prstGeom prst="rect">
            <a:avLst/>
          </a:prstGeom>
          <a:solidFill>
            <a:srgbClr val="F7FAFC"/>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5" name="Shape 3"/>
          <p:cNvSpPr/>
          <p:nvPr/>
        </p:nvSpPr>
        <p:spPr>
          <a:xfrm>
            <a:off x="502920" y="1280160"/>
            <a:ext cx="1828800" cy="54864"/>
          </a:xfrm>
          <a:prstGeom prst="rect">
            <a:avLst/>
          </a:prstGeom>
          <a:solidFill>
            <a:srgbClr val="E2E8F0"/>
          </a:solidFill>
          <a:ln/>
        </p:spPr>
      </p:sp>
      <p:sp>
        <p:nvSpPr>
          <p:cNvPr id="6" name="Shape 4"/>
          <p:cNvSpPr/>
          <p:nvPr/>
        </p:nvSpPr>
        <p:spPr>
          <a:xfrm>
            <a:off x="685800" y="1463040"/>
            <a:ext cx="1463040" cy="1005840"/>
          </a:xfrm>
          <a:prstGeom prst="rect">
            <a:avLst/>
          </a:prstGeom>
          <a:solidFill>
            <a:srgbClr val="FFFFFF"/>
          </a:solidFill>
          <a:ln w="12700">
            <a:solidFill>
              <a:srgbClr val="E2E8F0"/>
            </a:solidFill>
            <a:prstDash val="solid"/>
          </a:ln>
        </p:spPr>
      </p:sp>
      <p:sp>
        <p:nvSpPr>
          <p:cNvPr id="7" name="Shape 5"/>
          <p:cNvSpPr/>
          <p:nvPr/>
        </p:nvSpPr>
        <p:spPr>
          <a:xfrm>
            <a:off x="685800" y="1463040"/>
            <a:ext cx="1463040" cy="228600"/>
          </a:xfrm>
          <a:prstGeom prst="rect">
            <a:avLst/>
          </a:prstGeom>
          <a:solidFill>
            <a:srgbClr val="E2E8F0"/>
          </a:solidFill>
          <a:ln/>
        </p:spPr>
      </p:sp>
      <p:sp>
        <p:nvSpPr>
          <p:cNvPr id="8" name="Text 6"/>
          <p:cNvSpPr/>
          <p:nvPr/>
        </p:nvSpPr>
        <p:spPr>
          <a:xfrm>
            <a:off x="777240" y="1463040"/>
            <a:ext cx="1097280" cy="22860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LinkedOut</a:t>
            </a:r>
            <a:endParaRPr lang="en-US" sz="800" dirty="0"/>
          </a:p>
        </p:txBody>
      </p:sp>
      <p:sp>
        <p:nvSpPr>
          <p:cNvPr id="9" name="Shape 7"/>
          <p:cNvSpPr/>
          <p:nvPr/>
        </p:nvSpPr>
        <p:spPr>
          <a:xfrm>
            <a:off x="777240" y="1783080"/>
            <a:ext cx="1097280" cy="91440"/>
          </a:xfrm>
          <a:prstGeom prst="rect">
            <a:avLst/>
          </a:prstGeom>
          <a:solidFill>
            <a:srgbClr val="E2E8F0"/>
          </a:solidFill>
          <a:ln/>
        </p:spPr>
      </p:sp>
      <p:sp>
        <p:nvSpPr>
          <p:cNvPr id="10" name="Shape 8"/>
          <p:cNvSpPr/>
          <p:nvPr/>
        </p:nvSpPr>
        <p:spPr>
          <a:xfrm>
            <a:off x="777240" y="1947672"/>
            <a:ext cx="731520" cy="91440"/>
          </a:xfrm>
          <a:prstGeom prst="rect">
            <a:avLst/>
          </a:prstGeom>
          <a:solidFill>
            <a:srgbClr val="E2E8F0"/>
          </a:solidFill>
          <a:ln/>
        </p:spPr>
      </p:sp>
      <p:sp>
        <p:nvSpPr>
          <p:cNvPr id="11" name="Shape 9"/>
          <p:cNvSpPr/>
          <p:nvPr/>
        </p:nvSpPr>
        <p:spPr>
          <a:xfrm>
            <a:off x="777240" y="2112264"/>
            <a:ext cx="914400" cy="91440"/>
          </a:xfrm>
          <a:prstGeom prst="rect">
            <a:avLst/>
          </a:prstGeom>
          <a:solidFill>
            <a:srgbClr val="E2E8F0"/>
          </a:solidFill>
          <a:ln/>
        </p:spPr>
      </p:sp>
      <p:sp>
        <p:nvSpPr>
          <p:cNvPr id="12" name="Text 10"/>
          <p:cNvSpPr/>
          <p:nvPr/>
        </p:nvSpPr>
        <p:spPr>
          <a:xfrm>
            <a:off x="640080" y="2606040"/>
            <a:ext cx="1554480" cy="182880"/>
          </a:xfrm>
          <a:prstGeom prst="rect">
            <a:avLst/>
          </a:prstGeom>
          <a:noFill/>
          <a:ln/>
        </p:spPr>
        <p:txBody>
          <a:bodyPr wrap="square" lIns="0" tIns="0" rIns="0" bIns="0" rtlCol="0" anchor="ctr"/>
          <a:lstStyle/>
          <a:p>
            <a:pPr indent="0" marL="0">
              <a:buNone/>
            </a:pPr>
            <a:r>
              <a:rPr lang="en-US" sz="700" b="1" spc="150" kern="0" dirty="0">
                <a:solidFill>
                  <a:srgbClr val="93A1A1"/>
                </a:solidFill>
                <a:latin typeface="Calibri" pitchFamily="34" charset="0"/>
                <a:ea typeface="Calibri" pitchFamily="34" charset="-122"/>
                <a:cs typeface="Calibri" pitchFamily="34" charset="-120"/>
              </a:rPr>
              <a:t>STARTING POINT</a:t>
            </a:r>
            <a:endParaRPr lang="en-US" sz="700" dirty="0"/>
          </a:p>
        </p:txBody>
      </p:sp>
      <p:sp>
        <p:nvSpPr>
          <p:cNvPr id="13" name="Text 11"/>
          <p:cNvSpPr/>
          <p:nvPr/>
        </p:nvSpPr>
        <p:spPr>
          <a:xfrm>
            <a:off x="640080" y="2788920"/>
            <a:ext cx="1554480" cy="274320"/>
          </a:xfrm>
          <a:prstGeom prst="rect">
            <a:avLst/>
          </a:prstGeom>
          <a:noFill/>
          <a:ln/>
        </p:spPr>
        <p:txBody>
          <a:bodyPr wrap="square" lIns="0" tIns="0" rIns="0" bIns="0" rtlCol="0" anchor="ctr"/>
          <a:lstStyle/>
          <a:p>
            <a:pPr indent="0" marL="0">
              <a:buNone/>
            </a:pPr>
            <a:r>
              <a:rPr lang="en-US" sz="1200" b="1" dirty="0">
                <a:solidFill>
                  <a:srgbClr val="1A202C"/>
                </a:solidFill>
                <a:latin typeface="Trebuchet MS" pitchFamily="34" charset="0"/>
                <a:ea typeface="Trebuchet MS" pitchFamily="34" charset="-122"/>
                <a:cs typeface="Trebuchet MS" pitchFamily="34" charset="-120"/>
              </a:rPr>
              <a:t>Base MVP</a:t>
            </a:r>
            <a:endParaRPr lang="en-US" sz="1200" dirty="0"/>
          </a:p>
        </p:txBody>
      </p:sp>
      <p:sp>
        <p:nvSpPr>
          <p:cNvPr id="14" name="Text 12"/>
          <p:cNvSpPr/>
          <p:nvPr/>
        </p:nvSpPr>
        <p:spPr>
          <a:xfrm>
            <a:off x="640080" y="3063240"/>
            <a:ext cx="1554480" cy="640080"/>
          </a:xfrm>
          <a:prstGeom prst="rect">
            <a:avLst/>
          </a:prstGeom>
          <a:noFill/>
          <a:ln/>
        </p:spPr>
        <p:txBody>
          <a:bodyPr wrap="square" lIns="0" tIns="0" rIns="0" bIns="0" rtlCol="0" anchor="ctr"/>
          <a:lstStyle/>
          <a:p>
            <a:pPr indent="0" marL="0">
              <a:lnSpc>
                <a:spcPct val="130000"/>
              </a:lnSpc>
              <a:buNone/>
            </a:pPr>
            <a:r>
              <a:rPr lang="en-US" sz="950" dirty="0">
                <a:solidFill>
                  <a:srgbClr val="93A1A1"/>
                </a:solidFill>
                <a:latin typeface="Calibri" pitchFamily="34" charset="0"/>
                <a:ea typeface="Calibri" pitchFamily="34" charset="-122"/>
                <a:cs typeface="Calibri" pitchFamily="34" charset="-120"/>
              </a:rPr>
              <a:t>The existing codebase. Both start from the same source of truth.</a:t>
            </a:r>
            <a:endParaRPr lang="en-US" sz="950" dirty="0"/>
          </a:p>
        </p:txBody>
      </p:sp>
      <p:sp>
        <p:nvSpPr>
          <p:cNvPr id="15" name="Text 13"/>
          <p:cNvSpPr/>
          <p:nvPr/>
        </p:nvSpPr>
        <p:spPr>
          <a:xfrm>
            <a:off x="2331720" y="2011680"/>
            <a:ext cx="228600" cy="457200"/>
          </a:xfrm>
          <a:prstGeom prst="rect">
            <a:avLst/>
          </a:prstGeom>
          <a:noFill/>
          <a:ln/>
        </p:spPr>
        <p:txBody>
          <a:bodyPr wrap="square" lIns="0" tIns="0" rIns="0" bIns="0" rtlCol="0" anchor="ctr"/>
          <a:lstStyle/>
          <a:p>
            <a:pPr algn="ctr" indent="0" marL="0">
              <a:buNone/>
            </a:pPr>
            <a:r>
              <a:rPr lang="en-US" sz="1800" dirty="0">
                <a:solidFill>
                  <a:srgbClr val="93A1A1"/>
                </a:solidFill>
              </a:rPr>
              <a:t>→</a:t>
            </a:r>
            <a:endParaRPr lang="en-US" sz="1800" dirty="0"/>
          </a:p>
        </p:txBody>
      </p:sp>
      <p:sp>
        <p:nvSpPr>
          <p:cNvPr id="16" name="Shape 14"/>
          <p:cNvSpPr/>
          <p:nvPr/>
        </p:nvSpPr>
        <p:spPr>
          <a:xfrm>
            <a:off x="2560320" y="1280160"/>
            <a:ext cx="1828800" cy="2560320"/>
          </a:xfrm>
          <a:prstGeom prst="rect">
            <a:avLst/>
          </a:prstGeom>
          <a:solidFill>
            <a:srgbClr val="F7FAFC"/>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17" name="Shape 15"/>
          <p:cNvSpPr/>
          <p:nvPr/>
        </p:nvSpPr>
        <p:spPr>
          <a:xfrm>
            <a:off x="2560320" y="1280160"/>
            <a:ext cx="1828800" cy="54864"/>
          </a:xfrm>
          <a:prstGeom prst="rect">
            <a:avLst/>
          </a:prstGeom>
          <a:solidFill>
            <a:srgbClr val="268BD2"/>
          </a:solidFill>
          <a:ln/>
        </p:spPr>
      </p:sp>
      <p:sp>
        <p:nvSpPr>
          <p:cNvPr id="18" name="Shape 16"/>
          <p:cNvSpPr/>
          <p:nvPr/>
        </p:nvSpPr>
        <p:spPr>
          <a:xfrm>
            <a:off x="2743200" y="1463040"/>
            <a:ext cx="1463040" cy="1005840"/>
          </a:xfrm>
          <a:prstGeom prst="rect">
            <a:avLst/>
          </a:prstGeom>
          <a:solidFill>
            <a:srgbClr val="FFFFFF"/>
          </a:solidFill>
          <a:ln w="12700">
            <a:solidFill>
              <a:srgbClr val="E2E8F0"/>
            </a:solidFill>
            <a:prstDash val="solid"/>
          </a:ln>
        </p:spPr>
      </p:sp>
      <p:sp>
        <p:nvSpPr>
          <p:cNvPr id="19" name="Shape 17"/>
          <p:cNvSpPr/>
          <p:nvPr/>
        </p:nvSpPr>
        <p:spPr>
          <a:xfrm>
            <a:off x="2743200" y="1463040"/>
            <a:ext cx="1463040" cy="228600"/>
          </a:xfrm>
          <a:prstGeom prst="rect">
            <a:avLst/>
          </a:prstGeom>
          <a:solidFill>
            <a:srgbClr val="268BD2"/>
          </a:solidFill>
          <a:ln/>
        </p:spPr>
      </p:sp>
      <p:sp>
        <p:nvSpPr>
          <p:cNvPr id="20" name="Text 18"/>
          <p:cNvSpPr/>
          <p:nvPr/>
        </p:nvSpPr>
        <p:spPr>
          <a:xfrm>
            <a:off x="2834640" y="1463040"/>
            <a:ext cx="1097280" cy="22860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LinkedOut</a:t>
            </a:r>
            <a:endParaRPr lang="en-US" sz="800" dirty="0"/>
          </a:p>
        </p:txBody>
      </p:sp>
      <p:sp>
        <p:nvSpPr>
          <p:cNvPr id="21" name="Shape 19"/>
          <p:cNvSpPr/>
          <p:nvPr/>
        </p:nvSpPr>
        <p:spPr>
          <a:xfrm>
            <a:off x="2834640" y="1783080"/>
            <a:ext cx="1097280" cy="91440"/>
          </a:xfrm>
          <a:prstGeom prst="rect">
            <a:avLst/>
          </a:prstGeom>
          <a:solidFill>
            <a:srgbClr val="BFDBFE"/>
          </a:solidFill>
          <a:ln/>
        </p:spPr>
      </p:sp>
      <p:sp>
        <p:nvSpPr>
          <p:cNvPr id="22" name="Shape 20"/>
          <p:cNvSpPr/>
          <p:nvPr/>
        </p:nvSpPr>
        <p:spPr>
          <a:xfrm>
            <a:off x="2834640" y="1947672"/>
            <a:ext cx="731520" cy="91440"/>
          </a:xfrm>
          <a:prstGeom prst="rect">
            <a:avLst/>
          </a:prstGeom>
          <a:solidFill>
            <a:srgbClr val="BFDBFE"/>
          </a:solidFill>
          <a:ln/>
        </p:spPr>
      </p:sp>
      <p:sp>
        <p:nvSpPr>
          <p:cNvPr id="23" name="Shape 21"/>
          <p:cNvSpPr/>
          <p:nvPr/>
        </p:nvSpPr>
        <p:spPr>
          <a:xfrm>
            <a:off x="2834640" y="2112264"/>
            <a:ext cx="914400" cy="91440"/>
          </a:xfrm>
          <a:prstGeom prst="rect">
            <a:avLst/>
          </a:prstGeom>
          <a:solidFill>
            <a:srgbClr val="BFDBFE"/>
          </a:solidFill>
          <a:ln/>
        </p:spPr>
      </p:sp>
      <p:sp>
        <p:nvSpPr>
          <p:cNvPr id="24" name="Shape 22"/>
          <p:cNvSpPr/>
          <p:nvPr/>
        </p:nvSpPr>
        <p:spPr>
          <a:xfrm>
            <a:off x="2834640" y="2148840"/>
            <a:ext cx="1280160" cy="228600"/>
          </a:xfrm>
          <a:prstGeom prst="rect">
            <a:avLst/>
          </a:prstGeom>
          <a:solidFill>
            <a:srgbClr val="FFFFFF"/>
          </a:solidFill>
          <a:ln w="12700">
            <a:solidFill>
              <a:srgbClr val="268BD2"/>
            </a:solidFill>
            <a:prstDash val="dash"/>
          </a:ln>
        </p:spPr>
      </p:sp>
      <p:sp>
        <p:nvSpPr>
          <p:cNvPr id="25" name="Text 23"/>
          <p:cNvSpPr/>
          <p:nvPr/>
        </p:nvSpPr>
        <p:spPr>
          <a:xfrm>
            <a:off x="2880360" y="2148840"/>
            <a:ext cx="822960" cy="228600"/>
          </a:xfrm>
          <a:prstGeom prst="rect">
            <a:avLst/>
          </a:prstGeom>
          <a:noFill/>
          <a:ln/>
        </p:spPr>
        <p:txBody>
          <a:bodyPr wrap="square" lIns="0" tIns="0" rIns="0" bIns="0" rtlCol="0" anchor="ctr"/>
          <a:lstStyle/>
          <a:p>
            <a:pPr indent="0" marL="0">
              <a:buNone/>
            </a:pPr>
            <a:r>
              <a:rPr lang="en-US" sz="700" b="1" dirty="0">
                <a:solidFill>
                  <a:srgbClr val="268BD2"/>
                </a:solidFill>
                <a:latin typeface="Calibri" pitchFamily="34" charset="0"/>
                <a:ea typeface="Calibri" pitchFamily="34" charset="-122"/>
                <a:cs typeface="Calibri" pitchFamily="34" charset="-120"/>
              </a:rPr>
              <a:t>New Search Bar</a:t>
            </a:r>
            <a:endParaRPr lang="en-US" sz="700" dirty="0"/>
          </a:p>
        </p:txBody>
      </p:sp>
      <p:sp>
        <p:nvSpPr>
          <p:cNvPr id="26" name="Text 24"/>
          <p:cNvSpPr/>
          <p:nvPr/>
        </p:nvSpPr>
        <p:spPr>
          <a:xfrm>
            <a:off x="2697480" y="2606040"/>
            <a:ext cx="1554480" cy="182880"/>
          </a:xfrm>
          <a:prstGeom prst="rect">
            <a:avLst/>
          </a:prstGeom>
          <a:noFill/>
          <a:ln/>
        </p:spPr>
        <p:txBody>
          <a:bodyPr wrap="square" lIns="0" tIns="0" rIns="0" bIns="0" rtlCol="0" anchor="ctr"/>
          <a:lstStyle/>
          <a:p>
            <a:pPr indent="0" marL="0">
              <a:buNone/>
            </a:pPr>
            <a:r>
              <a:rPr lang="en-US" sz="700" b="1" spc="150" kern="0" dirty="0">
                <a:solidFill>
                  <a:srgbClr val="268BD2"/>
                </a:solidFill>
                <a:latin typeface="Calibri" pitchFamily="34" charset="0"/>
                <a:ea typeface="Calibri" pitchFamily="34" charset="-122"/>
                <a:cs typeface="Calibri" pitchFamily="34" charset="-120"/>
              </a:rPr>
              <a:t>DESIGNER</a:t>
            </a:r>
            <a:endParaRPr lang="en-US" sz="700" dirty="0"/>
          </a:p>
        </p:txBody>
      </p:sp>
      <p:sp>
        <p:nvSpPr>
          <p:cNvPr id="27" name="Text 25"/>
          <p:cNvSpPr/>
          <p:nvPr/>
        </p:nvSpPr>
        <p:spPr>
          <a:xfrm>
            <a:off x="2697480" y="2788920"/>
            <a:ext cx="1554480" cy="274320"/>
          </a:xfrm>
          <a:prstGeom prst="rect">
            <a:avLst/>
          </a:prstGeom>
          <a:noFill/>
          <a:ln/>
        </p:spPr>
        <p:txBody>
          <a:bodyPr wrap="square" lIns="0" tIns="0" rIns="0" bIns="0" rtlCol="0" anchor="ctr"/>
          <a:lstStyle/>
          <a:p>
            <a:pPr indent="0" marL="0">
              <a:buNone/>
            </a:pPr>
            <a:r>
              <a:rPr lang="en-US" sz="1200" b="1" dirty="0">
                <a:solidFill>
                  <a:srgbClr val="1A202C"/>
                </a:solidFill>
                <a:latin typeface="Trebuchet MS" pitchFamily="34" charset="0"/>
                <a:ea typeface="Trebuchet MS" pitchFamily="34" charset="-122"/>
                <a:cs typeface="Trebuchet MS" pitchFamily="34" charset="-120"/>
              </a:rPr>
              <a:t>Adds &amp; refines UI</a:t>
            </a:r>
            <a:endParaRPr lang="en-US" sz="1200" dirty="0"/>
          </a:p>
        </p:txBody>
      </p:sp>
      <p:sp>
        <p:nvSpPr>
          <p:cNvPr id="28" name="Text 26"/>
          <p:cNvSpPr/>
          <p:nvPr/>
        </p:nvSpPr>
        <p:spPr>
          <a:xfrm>
            <a:off x="2697480" y="3063240"/>
            <a:ext cx="1554480" cy="640080"/>
          </a:xfrm>
          <a:prstGeom prst="rect">
            <a:avLst/>
          </a:prstGeom>
          <a:noFill/>
          <a:ln/>
        </p:spPr>
        <p:txBody>
          <a:bodyPr wrap="square" lIns="0" tIns="0" rIns="0" bIns="0" rtlCol="0" anchor="ctr"/>
          <a:lstStyle/>
          <a:p>
            <a:pPr indent="0" marL="0">
              <a:lnSpc>
                <a:spcPct val="130000"/>
              </a:lnSpc>
              <a:buNone/>
            </a:pPr>
            <a:r>
              <a:rPr lang="en-US" sz="950" dirty="0">
                <a:solidFill>
                  <a:srgbClr val="93A1A1"/>
                </a:solidFill>
                <a:latin typeface="Calibri" pitchFamily="34" charset="0"/>
                <a:ea typeface="Calibri" pitchFamily="34" charset="-122"/>
                <a:cs typeface="Calibri" pitchFamily="34" charset="-120"/>
              </a:rPr>
              <a:t>Pulls design via Figma MCP. Iterates on interactions, styling — in real code.</a:t>
            </a:r>
            <a:endParaRPr lang="en-US" sz="950" dirty="0"/>
          </a:p>
        </p:txBody>
      </p:sp>
      <p:sp>
        <p:nvSpPr>
          <p:cNvPr id="29" name="Shape 27"/>
          <p:cNvSpPr/>
          <p:nvPr/>
        </p:nvSpPr>
        <p:spPr>
          <a:xfrm>
            <a:off x="2697480" y="3611880"/>
            <a:ext cx="777240" cy="182880"/>
          </a:xfrm>
          <a:prstGeom prst="rect">
            <a:avLst/>
          </a:prstGeom>
          <a:solidFill>
            <a:srgbClr val="EBF5FF"/>
          </a:solidFill>
          <a:ln/>
        </p:spPr>
      </p:sp>
      <p:sp>
        <p:nvSpPr>
          <p:cNvPr id="30" name="Text 28"/>
          <p:cNvSpPr/>
          <p:nvPr/>
        </p:nvSpPr>
        <p:spPr>
          <a:xfrm>
            <a:off x="2697480" y="3611880"/>
            <a:ext cx="777240" cy="182880"/>
          </a:xfrm>
          <a:prstGeom prst="rect">
            <a:avLst/>
          </a:prstGeom>
          <a:noFill/>
          <a:ln/>
        </p:spPr>
        <p:txBody>
          <a:bodyPr wrap="square" lIns="0" tIns="0" rIns="0" bIns="0" rtlCol="0" anchor="ctr"/>
          <a:lstStyle/>
          <a:p>
            <a:pPr algn="ctr" indent="0" marL="0">
              <a:buNone/>
            </a:pPr>
            <a:r>
              <a:rPr lang="en-US" sz="750" b="1" dirty="0">
                <a:solidFill>
                  <a:srgbClr val="268BD2"/>
                </a:solidFill>
                <a:latin typeface="Calibri" pitchFamily="34" charset="0"/>
                <a:ea typeface="Calibri" pitchFamily="34" charset="-122"/>
                <a:cs typeface="Calibri" pitchFamily="34" charset="-120"/>
              </a:rPr>
              <a:t>Merges PR</a:t>
            </a:r>
            <a:endParaRPr lang="en-US" sz="750" dirty="0"/>
          </a:p>
        </p:txBody>
      </p:sp>
      <p:sp>
        <p:nvSpPr>
          <p:cNvPr id="31" name="Text 29"/>
          <p:cNvSpPr/>
          <p:nvPr/>
        </p:nvSpPr>
        <p:spPr>
          <a:xfrm>
            <a:off x="4389120" y="2011680"/>
            <a:ext cx="228600" cy="457200"/>
          </a:xfrm>
          <a:prstGeom prst="rect">
            <a:avLst/>
          </a:prstGeom>
          <a:noFill/>
          <a:ln/>
        </p:spPr>
        <p:txBody>
          <a:bodyPr wrap="square" lIns="0" tIns="0" rIns="0" bIns="0" rtlCol="0" anchor="ctr"/>
          <a:lstStyle/>
          <a:p>
            <a:pPr algn="ctr" indent="0" marL="0">
              <a:buNone/>
            </a:pPr>
            <a:r>
              <a:rPr lang="en-US" sz="1800" dirty="0">
                <a:solidFill>
                  <a:srgbClr val="93A1A1"/>
                </a:solidFill>
              </a:rPr>
              <a:t>→</a:t>
            </a:r>
            <a:endParaRPr lang="en-US" sz="1800" dirty="0"/>
          </a:p>
        </p:txBody>
      </p:sp>
      <p:sp>
        <p:nvSpPr>
          <p:cNvPr id="32" name="Shape 30"/>
          <p:cNvSpPr/>
          <p:nvPr/>
        </p:nvSpPr>
        <p:spPr>
          <a:xfrm>
            <a:off x="4617720" y="1280160"/>
            <a:ext cx="1828800" cy="2560320"/>
          </a:xfrm>
          <a:prstGeom prst="rect">
            <a:avLst/>
          </a:prstGeom>
          <a:solidFill>
            <a:srgbClr val="F7FAFC"/>
          </a:solidFill>
          <a:ln w="12700">
            <a:solidFill>
              <a:srgbClr val="E2E8F0"/>
            </a:solidFill>
            <a:prstDash val="solid"/>
          </a:ln>
          <a:effectLst>
            <a:outerShdw sx="100000" sy="100000" kx="0" ky="0" algn="bl" rotWithShape="0" blurRad="50800" dist="12700" dir="8100000">
              <a:srgbClr val="000000">
                <a:alpha val="6000"/>
              </a:srgbClr>
            </a:outerShdw>
          </a:effectLst>
        </p:spPr>
      </p:sp>
      <p:sp>
        <p:nvSpPr>
          <p:cNvPr id="33" name="Shape 31"/>
          <p:cNvSpPr/>
          <p:nvPr/>
        </p:nvSpPr>
        <p:spPr>
          <a:xfrm>
            <a:off x="4617720" y="1280160"/>
            <a:ext cx="1828800" cy="54864"/>
          </a:xfrm>
          <a:prstGeom prst="rect">
            <a:avLst/>
          </a:prstGeom>
          <a:solidFill>
            <a:srgbClr val="859900"/>
          </a:solidFill>
          <a:ln/>
        </p:spPr>
      </p:sp>
      <p:sp>
        <p:nvSpPr>
          <p:cNvPr id="34" name="Shape 32"/>
          <p:cNvSpPr/>
          <p:nvPr/>
        </p:nvSpPr>
        <p:spPr>
          <a:xfrm>
            <a:off x="4800600" y="1463040"/>
            <a:ext cx="1463040" cy="1005840"/>
          </a:xfrm>
          <a:prstGeom prst="rect">
            <a:avLst/>
          </a:prstGeom>
          <a:solidFill>
            <a:srgbClr val="FFFFFF"/>
          </a:solidFill>
          <a:ln w="12700">
            <a:solidFill>
              <a:srgbClr val="E2E8F0"/>
            </a:solidFill>
            <a:prstDash val="solid"/>
          </a:ln>
        </p:spPr>
      </p:sp>
      <p:sp>
        <p:nvSpPr>
          <p:cNvPr id="35" name="Shape 33"/>
          <p:cNvSpPr/>
          <p:nvPr/>
        </p:nvSpPr>
        <p:spPr>
          <a:xfrm>
            <a:off x="4800600" y="1463040"/>
            <a:ext cx="1463040" cy="228600"/>
          </a:xfrm>
          <a:prstGeom prst="rect">
            <a:avLst/>
          </a:prstGeom>
          <a:solidFill>
            <a:srgbClr val="268BD2"/>
          </a:solidFill>
          <a:ln/>
        </p:spPr>
      </p:sp>
      <p:sp>
        <p:nvSpPr>
          <p:cNvPr id="36" name="Text 34"/>
          <p:cNvSpPr/>
          <p:nvPr/>
        </p:nvSpPr>
        <p:spPr>
          <a:xfrm>
            <a:off x="4892040" y="1463040"/>
            <a:ext cx="1097280" cy="22860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LinkedOut</a:t>
            </a:r>
            <a:endParaRPr lang="en-US" sz="800" dirty="0"/>
          </a:p>
        </p:txBody>
      </p:sp>
      <p:sp>
        <p:nvSpPr>
          <p:cNvPr id="37" name="Shape 35"/>
          <p:cNvSpPr/>
          <p:nvPr/>
        </p:nvSpPr>
        <p:spPr>
          <a:xfrm>
            <a:off x="4892040" y="1783080"/>
            <a:ext cx="1097280" cy="91440"/>
          </a:xfrm>
          <a:prstGeom prst="rect">
            <a:avLst/>
          </a:prstGeom>
          <a:solidFill>
            <a:srgbClr val="BFDBFE"/>
          </a:solidFill>
          <a:ln/>
        </p:spPr>
      </p:sp>
      <p:sp>
        <p:nvSpPr>
          <p:cNvPr id="38" name="Shape 36"/>
          <p:cNvSpPr/>
          <p:nvPr/>
        </p:nvSpPr>
        <p:spPr>
          <a:xfrm>
            <a:off x="4892040" y="1947672"/>
            <a:ext cx="731520" cy="91440"/>
          </a:xfrm>
          <a:prstGeom prst="rect">
            <a:avLst/>
          </a:prstGeom>
          <a:solidFill>
            <a:srgbClr val="BFDBFE"/>
          </a:solidFill>
          <a:ln/>
        </p:spPr>
      </p:sp>
      <p:sp>
        <p:nvSpPr>
          <p:cNvPr id="39" name="Shape 37"/>
          <p:cNvSpPr/>
          <p:nvPr/>
        </p:nvSpPr>
        <p:spPr>
          <a:xfrm>
            <a:off x="4892040" y="2112264"/>
            <a:ext cx="914400" cy="91440"/>
          </a:xfrm>
          <a:prstGeom prst="rect">
            <a:avLst/>
          </a:prstGeom>
          <a:solidFill>
            <a:srgbClr val="BFDBFE"/>
          </a:solidFill>
          <a:ln/>
        </p:spPr>
      </p:sp>
      <p:sp>
        <p:nvSpPr>
          <p:cNvPr id="40" name="Shape 38"/>
          <p:cNvSpPr/>
          <p:nvPr/>
        </p:nvSpPr>
        <p:spPr>
          <a:xfrm>
            <a:off x="4892040" y="2148840"/>
            <a:ext cx="1280160" cy="228600"/>
          </a:xfrm>
          <a:prstGeom prst="rect">
            <a:avLst/>
          </a:prstGeom>
          <a:solidFill>
            <a:srgbClr val="FFFFFF"/>
          </a:solidFill>
          <a:ln w="12700">
            <a:solidFill>
              <a:srgbClr val="859900"/>
            </a:solidFill>
            <a:prstDash val="solid"/>
          </a:ln>
        </p:spPr>
      </p:sp>
      <p:sp>
        <p:nvSpPr>
          <p:cNvPr id="41" name="Text 39"/>
          <p:cNvSpPr/>
          <p:nvPr/>
        </p:nvSpPr>
        <p:spPr>
          <a:xfrm>
            <a:off x="4937760" y="2148840"/>
            <a:ext cx="822960" cy="228600"/>
          </a:xfrm>
          <a:prstGeom prst="rect">
            <a:avLst/>
          </a:prstGeom>
          <a:noFill/>
          <a:ln/>
        </p:spPr>
        <p:txBody>
          <a:bodyPr wrap="square" lIns="0" tIns="0" rIns="0" bIns="0" rtlCol="0" anchor="ctr"/>
          <a:lstStyle/>
          <a:p>
            <a:pPr indent="0" marL="0">
              <a:buNone/>
            </a:pPr>
            <a:r>
              <a:rPr lang="en-US" sz="700" b="1" dirty="0">
                <a:solidFill>
                  <a:srgbClr val="859900"/>
                </a:solidFill>
                <a:latin typeface="Calibri" pitchFamily="34" charset="0"/>
                <a:ea typeface="Calibri" pitchFamily="34" charset="-122"/>
                <a:cs typeface="Calibri" pitchFamily="34" charset="-120"/>
              </a:rPr>
              <a:t>Search Bar</a:t>
            </a:r>
            <a:endParaRPr lang="en-US" sz="700" dirty="0"/>
          </a:p>
        </p:txBody>
      </p:sp>
      <p:sp>
        <p:nvSpPr>
          <p:cNvPr id="42" name="Text 40"/>
          <p:cNvSpPr/>
          <p:nvPr/>
        </p:nvSpPr>
        <p:spPr>
          <a:xfrm>
            <a:off x="5532120" y="2176272"/>
            <a:ext cx="548640" cy="164592"/>
          </a:xfrm>
          <a:prstGeom prst="rect">
            <a:avLst/>
          </a:prstGeom>
          <a:solidFill>
            <a:srgbClr val="859900"/>
          </a:solid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LIVE DATA</a:t>
            </a:r>
            <a:endParaRPr lang="en-US" sz="600" dirty="0"/>
          </a:p>
        </p:txBody>
      </p:sp>
      <p:sp>
        <p:nvSpPr>
          <p:cNvPr id="43" name="Text 41"/>
          <p:cNvSpPr/>
          <p:nvPr/>
        </p:nvSpPr>
        <p:spPr>
          <a:xfrm>
            <a:off x="4754880" y="2606040"/>
            <a:ext cx="1554480" cy="182880"/>
          </a:xfrm>
          <a:prstGeom prst="rect">
            <a:avLst/>
          </a:prstGeom>
          <a:noFill/>
          <a:ln/>
        </p:spPr>
        <p:txBody>
          <a:bodyPr wrap="square" lIns="0" tIns="0" rIns="0" bIns="0" rtlCol="0" anchor="ctr"/>
          <a:lstStyle/>
          <a:p>
            <a:pPr indent="0" marL="0">
              <a:buNone/>
            </a:pPr>
            <a:r>
              <a:rPr lang="en-US" sz="700" b="1" spc="150" kern="0" dirty="0">
                <a:solidFill>
                  <a:srgbClr val="859900"/>
                </a:solidFill>
                <a:latin typeface="Calibri" pitchFamily="34" charset="0"/>
                <a:ea typeface="Calibri" pitchFamily="34" charset="-122"/>
                <a:cs typeface="Calibri" pitchFamily="34" charset="-120"/>
              </a:rPr>
              <a:t>ENGINEER</a:t>
            </a:r>
            <a:endParaRPr lang="en-US" sz="700" dirty="0"/>
          </a:p>
        </p:txBody>
      </p:sp>
      <p:sp>
        <p:nvSpPr>
          <p:cNvPr id="44" name="Text 42"/>
          <p:cNvSpPr/>
          <p:nvPr/>
        </p:nvSpPr>
        <p:spPr>
          <a:xfrm>
            <a:off x="4754880" y="2788920"/>
            <a:ext cx="1554480" cy="274320"/>
          </a:xfrm>
          <a:prstGeom prst="rect">
            <a:avLst/>
          </a:prstGeom>
          <a:noFill/>
          <a:ln/>
        </p:spPr>
        <p:txBody>
          <a:bodyPr wrap="square" lIns="0" tIns="0" rIns="0" bIns="0" rtlCol="0" anchor="ctr"/>
          <a:lstStyle/>
          <a:p>
            <a:pPr indent="0" marL="0">
              <a:buNone/>
            </a:pPr>
            <a:r>
              <a:rPr lang="en-US" sz="1200" b="1" dirty="0">
                <a:solidFill>
                  <a:srgbClr val="1A202C"/>
                </a:solidFill>
                <a:latin typeface="Trebuchet MS" pitchFamily="34" charset="0"/>
                <a:ea typeface="Trebuchet MS" pitchFamily="34" charset="-122"/>
                <a:cs typeface="Trebuchet MS" pitchFamily="34" charset="-120"/>
              </a:rPr>
              <a:t>Wires up backend</a:t>
            </a:r>
            <a:endParaRPr lang="en-US" sz="1200" dirty="0"/>
          </a:p>
        </p:txBody>
      </p:sp>
      <p:sp>
        <p:nvSpPr>
          <p:cNvPr id="45" name="Text 43"/>
          <p:cNvSpPr/>
          <p:nvPr/>
        </p:nvSpPr>
        <p:spPr>
          <a:xfrm>
            <a:off x="4754880" y="3063240"/>
            <a:ext cx="1554480" cy="640080"/>
          </a:xfrm>
          <a:prstGeom prst="rect">
            <a:avLst/>
          </a:prstGeom>
          <a:noFill/>
          <a:ln/>
        </p:spPr>
        <p:txBody>
          <a:bodyPr wrap="square" lIns="0" tIns="0" rIns="0" bIns="0" rtlCol="0" anchor="ctr"/>
          <a:lstStyle/>
          <a:p>
            <a:pPr indent="0" marL="0">
              <a:lnSpc>
                <a:spcPct val="130000"/>
              </a:lnSpc>
              <a:buNone/>
            </a:pPr>
            <a:r>
              <a:rPr lang="en-US" sz="950" dirty="0">
                <a:solidFill>
                  <a:srgbClr val="93A1A1"/>
                </a:solidFill>
                <a:latin typeface="Calibri" pitchFamily="34" charset="0"/>
                <a:ea typeface="Calibri" pitchFamily="34" charset="-122"/>
                <a:cs typeface="Calibri" pitchFamily="34" charset="-120"/>
              </a:rPr>
              <a:t>Works from same codebase. Connects database, auth, APIs. Doesn't touch design.</a:t>
            </a:r>
            <a:endParaRPr lang="en-US" sz="950" dirty="0"/>
          </a:p>
        </p:txBody>
      </p:sp>
      <p:sp>
        <p:nvSpPr>
          <p:cNvPr id="46" name="Shape 44"/>
          <p:cNvSpPr/>
          <p:nvPr/>
        </p:nvSpPr>
        <p:spPr>
          <a:xfrm>
            <a:off x="4754880" y="3611880"/>
            <a:ext cx="777240" cy="182880"/>
          </a:xfrm>
          <a:prstGeom prst="rect">
            <a:avLst/>
          </a:prstGeom>
          <a:solidFill>
            <a:srgbClr val="EBF5FF"/>
          </a:solidFill>
          <a:ln/>
        </p:spPr>
      </p:sp>
      <p:sp>
        <p:nvSpPr>
          <p:cNvPr id="47" name="Text 45"/>
          <p:cNvSpPr/>
          <p:nvPr/>
        </p:nvSpPr>
        <p:spPr>
          <a:xfrm>
            <a:off x="4754880" y="3611880"/>
            <a:ext cx="777240" cy="182880"/>
          </a:xfrm>
          <a:prstGeom prst="rect">
            <a:avLst/>
          </a:prstGeom>
          <a:noFill/>
          <a:ln/>
        </p:spPr>
        <p:txBody>
          <a:bodyPr wrap="square" lIns="0" tIns="0" rIns="0" bIns="0" rtlCol="0" anchor="ctr"/>
          <a:lstStyle/>
          <a:p>
            <a:pPr algn="ctr" indent="0" marL="0">
              <a:buNone/>
            </a:pPr>
            <a:r>
              <a:rPr lang="en-US" sz="750" b="1" dirty="0">
                <a:solidFill>
                  <a:srgbClr val="268BD2"/>
                </a:solidFill>
                <a:latin typeface="Calibri" pitchFamily="34" charset="0"/>
                <a:ea typeface="Calibri" pitchFamily="34" charset="-122"/>
                <a:cs typeface="Calibri" pitchFamily="34" charset="-120"/>
              </a:rPr>
              <a:t>Merges PR</a:t>
            </a:r>
            <a:endParaRPr lang="en-US" sz="750" dirty="0"/>
          </a:p>
        </p:txBody>
      </p:sp>
      <p:sp>
        <p:nvSpPr>
          <p:cNvPr id="48" name="Text 46"/>
          <p:cNvSpPr/>
          <p:nvPr/>
        </p:nvSpPr>
        <p:spPr>
          <a:xfrm>
            <a:off x="6446520" y="2011680"/>
            <a:ext cx="228600" cy="457200"/>
          </a:xfrm>
          <a:prstGeom prst="rect">
            <a:avLst/>
          </a:prstGeom>
          <a:noFill/>
          <a:ln/>
        </p:spPr>
        <p:txBody>
          <a:bodyPr wrap="square" lIns="0" tIns="0" rIns="0" bIns="0" rtlCol="0" anchor="ctr"/>
          <a:lstStyle/>
          <a:p>
            <a:pPr algn="ctr" indent="0" marL="0">
              <a:buNone/>
            </a:pPr>
            <a:r>
              <a:rPr lang="en-US" sz="1800" dirty="0">
                <a:solidFill>
                  <a:srgbClr val="93A1A1"/>
                </a:solidFill>
              </a:rPr>
              <a:t>→</a:t>
            </a:r>
            <a:endParaRPr lang="en-US" sz="1800" dirty="0"/>
          </a:p>
        </p:txBody>
      </p:sp>
      <p:sp>
        <p:nvSpPr>
          <p:cNvPr id="49" name="Shape 47"/>
          <p:cNvSpPr/>
          <p:nvPr/>
        </p:nvSpPr>
        <p:spPr>
          <a:xfrm>
            <a:off x="6675120" y="1280160"/>
            <a:ext cx="1828800" cy="2560320"/>
          </a:xfrm>
          <a:prstGeom prst="rect">
            <a:avLst/>
          </a:prstGeom>
          <a:solidFill>
            <a:srgbClr val="F7FAFC"/>
          </a:solidFill>
          <a:ln w="25400">
            <a:solidFill>
              <a:srgbClr val="2AA198"/>
            </a:solidFill>
            <a:prstDash val="solid"/>
          </a:ln>
          <a:effectLst>
            <a:outerShdw sx="100000" sy="100000" kx="0" ky="0" algn="bl" rotWithShape="0" blurRad="50800" dist="12700" dir="8100000">
              <a:srgbClr val="000000">
                <a:alpha val="6000"/>
              </a:srgbClr>
            </a:outerShdw>
          </a:effectLst>
        </p:spPr>
      </p:sp>
      <p:sp>
        <p:nvSpPr>
          <p:cNvPr id="50" name="Shape 48"/>
          <p:cNvSpPr/>
          <p:nvPr/>
        </p:nvSpPr>
        <p:spPr>
          <a:xfrm>
            <a:off x="6675120" y="1280160"/>
            <a:ext cx="1828800" cy="54864"/>
          </a:xfrm>
          <a:prstGeom prst="rect">
            <a:avLst/>
          </a:prstGeom>
          <a:solidFill>
            <a:srgbClr val="2AA198"/>
          </a:solidFill>
          <a:ln/>
        </p:spPr>
      </p:sp>
      <p:sp>
        <p:nvSpPr>
          <p:cNvPr id="51" name="Shape 49"/>
          <p:cNvSpPr/>
          <p:nvPr/>
        </p:nvSpPr>
        <p:spPr>
          <a:xfrm>
            <a:off x="6858000" y="1463040"/>
            <a:ext cx="1463040" cy="1005840"/>
          </a:xfrm>
          <a:prstGeom prst="rect">
            <a:avLst/>
          </a:prstGeom>
          <a:solidFill>
            <a:srgbClr val="FFFFFF"/>
          </a:solidFill>
          <a:ln w="12700">
            <a:solidFill>
              <a:srgbClr val="E2E8F0"/>
            </a:solidFill>
            <a:prstDash val="solid"/>
          </a:ln>
        </p:spPr>
      </p:sp>
      <p:sp>
        <p:nvSpPr>
          <p:cNvPr id="52" name="Shape 50"/>
          <p:cNvSpPr/>
          <p:nvPr/>
        </p:nvSpPr>
        <p:spPr>
          <a:xfrm>
            <a:off x="6858000" y="1463040"/>
            <a:ext cx="1463040" cy="228600"/>
          </a:xfrm>
          <a:prstGeom prst="rect">
            <a:avLst/>
          </a:prstGeom>
          <a:solidFill>
            <a:srgbClr val="268BD2"/>
          </a:solidFill>
          <a:ln/>
        </p:spPr>
      </p:sp>
      <p:sp>
        <p:nvSpPr>
          <p:cNvPr id="53" name="Text 51"/>
          <p:cNvSpPr/>
          <p:nvPr/>
        </p:nvSpPr>
        <p:spPr>
          <a:xfrm>
            <a:off x="6949440" y="1463040"/>
            <a:ext cx="1097280" cy="22860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LinkedOut</a:t>
            </a:r>
            <a:endParaRPr lang="en-US" sz="800" dirty="0"/>
          </a:p>
        </p:txBody>
      </p:sp>
      <p:sp>
        <p:nvSpPr>
          <p:cNvPr id="54" name="Shape 52"/>
          <p:cNvSpPr/>
          <p:nvPr/>
        </p:nvSpPr>
        <p:spPr>
          <a:xfrm>
            <a:off x="6949440" y="1783080"/>
            <a:ext cx="1097280" cy="91440"/>
          </a:xfrm>
          <a:prstGeom prst="rect">
            <a:avLst/>
          </a:prstGeom>
          <a:solidFill>
            <a:srgbClr val="BFDBFE"/>
          </a:solidFill>
          <a:ln/>
        </p:spPr>
      </p:sp>
      <p:sp>
        <p:nvSpPr>
          <p:cNvPr id="55" name="Shape 53"/>
          <p:cNvSpPr/>
          <p:nvPr/>
        </p:nvSpPr>
        <p:spPr>
          <a:xfrm>
            <a:off x="6949440" y="1947672"/>
            <a:ext cx="731520" cy="91440"/>
          </a:xfrm>
          <a:prstGeom prst="rect">
            <a:avLst/>
          </a:prstGeom>
          <a:solidFill>
            <a:srgbClr val="BFDBFE"/>
          </a:solidFill>
          <a:ln/>
        </p:spPr>
      </p:sp>
      <p:sp>
        <p:nvSpPr>
          <p:cNvPr id="56" name="Shape 54"/>
          <p:cNvSpPr/>
          <p:nvPr/>
        </p:nvSpPr>
        <p:spPr>
          <a:xfrm>
            <a:off x="6949440" y="2112264"/>
            <a:ext cx="914400" cy="91440"/>
          </a:xfrm>
          <a:prstGeom prst="rect">
            <a:avLst/>
          </a:prstGeom>
          <a:solidFill>
            <a:srgbClr val="BFDBFE"/>
          </a:solidFill>
          <a:ln/>
        </p:spPr>
      </p:sp>
      <p:sp>
        <p:nvSpPr>
          <p:cNvPr id="57" name="Shape 55"/>
          <p:cNvSpPr/>
          <p:nvPr/>
        </p:nvSpPr>
        <p:spPr>
          <a:xfrm>
            <a:off x="6949440" y="2148840"/>
            <a:ext cx="1280160" cy="228600"/>
          </a:xfrm>
          <a:prstGeom prst="rect">
            <a:avLst/>
          </a:prstGeom>
          <a:solidFill>
            <a:srgbClr val="FFFFFF"/>
          </a:solidFill>
          <a:ln w="12700">
            <a:solidFill>
              <a:srgbClr val="2AA198"/>
            </a:solidFill>
            <a:prstDash val="solid"/>
          </a:ln>
        </p:spPr>
      </p:sp>
      <p:sp>
        <p:nvSpPr>
          <p:cNvPr id="58" name="Text 56"/>
          <p:cNvSpPr/>
          <p:nvPr/>
        </p:nvSpPr>
        <p:spPr>
          <a:xfrm>
            <a:off x="6995160" y="2148840"/>
            <a:ext cx="822960" cy="228600"/>
          </a:xfrm>
          <a:prstGeom prst="rect">
            <a:avLst/>
          </a:prstGeom>
          <a:noFill/>
          <a:ln/>
        </p:spPr>
        <p:txBody>
          <a:bodyPr wrap="square" lIns="0" tIns="0" rIns="0" bIns="0" rtlCol="0" anchor="ctr"/>
          <a:lstStyle/>
          <a:p>
            <a:pPr indent="0" marL="0">
              <a:buNone/>
            </a:pPr>
            <a:r>
              <a:rPr lang="en-US" sz="700" b="1" dirty="0">
                <a:solidFill>
                  <a:srgbClr val="2AA198"/>
                </a:solidFill>
                <a:latin typeface="Calibri" pitchFamily="34" charset="0"/>
                <a:ea typeface="Calibri" pitchFamily="34" charset="-122"/>
                <a:cs typeface="Calibri" pitchFamily="34" charset="-120"/>
              </a:rPr>
              <a:t>Search Bar</a:t>
            </a:r>
            <a:endParaRPr lang="en-US" sz="700" dirty="0"/>
          </a:p>
        </p:txBody>
      </p:sp>
      <p:sp>
        <p:nvSpPr>
          <p:cNvPr id="59" name="Text 57"/>
          <p:cNvSpPr/>
          <p:nvPr/>
        </p:nvSpPr>
        <p:spPr>
          <a:xfrm>
            <a:off x="7589520" y="2176272"/>
            <a:ext cx="548640" cy="164592"/>
          </a:xfrm>
          <a:prstGeom prst="rect">
            <a:avLst/>
          </a:prstGeom>
          <a:solidFill>
            <a:srgbClr val="2AA198"/>
          </a:solid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SHIPPED</a:t>
            </a:r>
            <a:endParaRPr lang="en-US" sz="600" dirty="0"/>
          </a:p>
        </p:txBody>
      </p:sp>
      <p:sp>
        <p:nvSpPr>
          <p:cNvPr id="60" name="Text 58"/>
          <p:cNvSpPr/>
          <p:nvPr/>
        </p:nvSpPr>
        <p:spPr>
          <a:xfrm>
            <a:off x="6812280" y="2606040"/>
            <a:ext cx="1554480" cy="182880"/>
          </a:xfrm>
          <a:prstGeom prst="rect">
            <a:avLst/>
          </a:prstGeom>
          <a:noFill/>
          <a:ln/>
        </p:spPr>
        <p:txBody>
          <a:bodyPr wrap="square" lIns="0" tIns="0" rIns="0" bIns="0" rtlCol="0" anchor="ctr"/>
          <a:lstStyle/>
          <a:p>
            <a:pPr indent="0" marL="0">
              <a:buNone/>
            </a:pPr>
            <a:r>
              <a:rPr lang="en-US" sz="700" b="1" spc="150" kern="0" dirty="0">
                <a:solidFill>
                  <a:srgbClr val="2AA198"/>
                </a:solidFill>
                <a:latin typeface="Calibri" pitchFamily="34" charset="0"/>
                <a:ea typeface="Calibri" pitchFamily="34" charset="-122"/>
                <a:cs typeface="Calibri" pitchFamily="34" charset="-120"/>
              </a:rPr>
              <a:t>FINAL RESULT</a:t>
            </a:r>
            <a:endParaRPr lang="en-US" sz="700" dirty="0"/>
          </a:p>
        </p:txBody>
      </p:sp>
      <p:sp>
        <p:nvSpPr>
          <p:cNvPr id="61" name="Text 59"/>
          <p:cNvSpPr/>
          <p:nvPr/>
        </p:nvSpPr>
        <p:spPr>
          <a:xfrm>
            <a:off x="6812280" y="2788920"/>
            <a:ext cx="1554480" cy="274320"/>
          </a:xfrm>
          <a:prstGeom prst="rect">
            <a:avLst/>
          </a:prstGeom>
          <a:noFill/>
          <a:ln/>
        </p:spPr>
        <p:txBody>
          <a:bodyPr wrap="square" lIns="0" tIns="0" rIns="0" bIns="0" rtlCol="0" anchor="ctr"/>
          <a:lstStyle/>
          <a:p>
            <a:pPr indent="0" marL="0">
              <a:buNone/>
            </a:pPr>
            <a:r>
              <a:rPr lang="en-US" sz="1200" b="1" dirty="0">
                <a:solidFill>
                  <a:srgbClr val="1A202C"/>
                </a:solidFill>
                <a:latin typeface="Trebuchet MS" pitchFamily="34" charset="0"/>
                <a:ea typeface="Trebuchet MS" pitchFamily="34" charset="-122"/>
                <a:cs typeface="Trebuchet MS" pitchFamily="34" charset="-120"/>
              </a:rPr>
              <a:t>Working version</a:t>
            </a:r>
            <a:endParaRPr lang="en-US" sz="1200" dirty="0"/>
          </a:p>
        </p:txBody>
      </p:sp>
      <p:sp>
        <p:nvSpPr>
          <p:cNvPr id="62" name="Text 60"/>
          <p:cNvSpPr/>
          <p:nvPr/>
        </p:nvSpPr>
        <p:spPr>
          <a:xfrm>
            <a:off x="6812280" y="3063240"/>
            <a:ext cx="1554480" cy="640080"/>
          </a:xfrm>
          <a:prstGeom prst="rect">
            <a:avLst/>
          </a:prstGeom>
          <a:noFill/>
          <a:ln/>
        </p:spPr>
        <p:txBody>
          <a:bodyPr wrap="square" lIns="0" tIns="0" rIns="0" bIns="0" rtlCol="0" anchor="ctr"/>
          <a:lstStyle/>
          <a:p>
            <a:pPr indent="0" marL="0">
              <a:lnSpc>
                <a:spcPct val="130000"/>
              </a:lnSpc>
              <a:buNone/>
            </a:pPr>
            <a:r>
              <a:rPr lang="en-US" sz="950" dirty="0">
                <a:solidFill>
                  <a:srgbClr val="93A1A1"/>
                </a:solidFill>
                <a:latin typeface="Calibri" pitchFamily="34" charset="0"/>
                <a:ea typeface="Calibri" pitchFamily="34" charset="-122"/>
                <a:cs typeface="Calibri" pitchFamily="34" charset="-120"/>
              </a:rPr>
              <a:t>Collaborative work that runs — not a mockup that gets handed off many times.</a:t>
            </a:r>
            <a:endParaRPr lang="en-US" sz="950" dirty="0"/>
          </a:p>
        </p:txBody>
      </p:sp>
      <p:sp>
        <p:nvSpPr>
          <p:cNvPr id="63" name="Shape 61"/>
          <p:cNvSpPr/>
          <p:nvPr/>
        </p:nvSpPr>
        <p:spPr>
          <a:xfrm>
            <a:off x="2286000" y="4023360"/>
            <a:ext cx="109728" cy="109728"/>
          </a:xfrm>
          <a:prstGeom prst="ellipse">
            <a:avLst/>
          </a:prstGeom>
          <a:solidFill>
            <a:srgbClr val="268BD2"/>
          </a:solidFill>
          <a:ln/>
        </p:spPr>
      </p:sp>
      <p:sp>
        <p:nvSpPr>
          <p:cNvPr id="64" name="Text 62"/>
          <p:cNvSpPr/>
          <p:nvPr/>
        </p:nvSpPr>
        <p:spPr>
          <a:xfrm>
            <a:off x="2468880" y="3977640"/>
            <a:ext cx="228600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Designer: Iterates on UI interactions</a:t>
            </a:r>
            <a:endParaRPr lang="en-US" sz="900" dirty="0"/>
          </a:p>
        </p:txBody>
      </p:sp>
      <p:sp>
        <p:nvSpPr>
          <p:cNvPr id="65" name="Shape 63"/>
          <p:cNvSpPr/>
          <p:nvPr/>
        </p:nvSpPr>
        <p:spPr>
          <a:xfrm>
            <a:off x="5029200" y="4023360"/>
            <a:ext cx="109728" cy="109728"/>
          </a:xfrm>
          <a:prstGeom prst="ellipse">
            <a:avLst/>
          </a:prstGeom>
          <a:solidFill>
            <a:srgbClr val="859900"/>
          </a:solidFill>
          <a:ln/>
        </p:spPr>
      </p:sp>
      <p:sp>
        <p:nvSpPr>
          <p:cNvPr id="66" name="Text 64"/>
          <p:cNvSpPr/>
          <p:nvPr/>
        </p:nvSpPr>
        <p:spPr>
          <a:xfrm>
            <a:off x="5212080" y="3977640"/>
            <a:ext cx="228600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Engineer: Connects data &amp; backend</a:t>
            </a:r>
            <a:endParaRPr lang="en-US" sz="900" dirty="0"/>
          </a:p>
        </p:txBody>
      </p:sp>
      <p:sp>
        <p:nvSpPr>
          <p:cNvPr id="67" name="Shape 65"/>
          <p:cNvSpPr/>
          <p:nvPr/>
        </p:nvSpPr>
        <p:spPr>
          <a:xfrm>
            <a:off x="731520" y="4297680"/>
            <a:ext cx="7680960" cy="640080"/>
          </a:xfrm>
          <a:prstGeom prst="rect">
            <a:avLst/>
          </a:prstGeom>
          <a:solidFill>
            <a:srgbClr val="F0F9FF"/>
          </a:solidFill>
          <a:ln w="12700">
            <a:solidFill>
              <a:srgbClr val="BFDBFE"/>
            </a:solidFill>
            <a:prstDash val="solid"/>
          </a:ln>
        </p:spPr>
      </p:sp>
      <p:sp>
        <p:nvSpPr>
          <p:cNvPr id="68" name="Text 66"/>
          <p:cNvSpPr/>
          <p:nvPr/>
        </p:nvSpPr>
        <p:spPr>
          <a:xfrm>
            <a:off x="914400" y="4343400"/>
            <a:ext cx="7315200" cy="502920"/>
          </a:xfrm>
          <a:prstGeom prst="rect">
            <a:avLst/>
          </a:prstGeom>
          <a:noFill/>
          <a:ln/>
        </p:spPr>
        <p:txBody>
          <a:bodyPr wrap="square" lIns="0" tIns="0" rIns="0" bIns="0" rtlCol="0" anchor="ctr"/>
          <a:lstStyle/>
          <a:p>
            <a:pPr indent="0" marL="0">
              <a:lnSpc>
                <a:spcPct val="130000"/>
              </a:lnSpc>
              <a:buNone/>
            </a:pPr>
            <a:r>
              <a:rPr lang="en-US" sz="1050" b="1" dirty="0">
                <a:solidFill>
                  <a:srgbClr val="1A202C"/>
                </a:solidFill>
                <a:latin typeface="Calibri" pitchFamily="34" charset="0"/>
                <a:ea typeface="Calibri" pitchFamily="34" charset="-122"/>
                <a:cs typeface="Calibri" pitchFamily="34" charset="-120"/>
              </a:rPr>
              <a:t>The shift: </a:t>
            </a:r>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Before Cursor, the designer was in a silo — handing off mockups that got rebuilt from scratch. Now they work </a:t>
            </a:r>
            <a:pPr indent="0" marL="0">
              <a:lnSpc>
                <a:spcPct val="130000"/>
              </a:lnSpc>
              <a:buNone/>
            </a:pPr>
            <a:r>
              <a:rPr lang="en-US" sz="1050" b="1" i="1" dirty="0">
                <a:solidFill>
                  <a:srgbClr val="268BD2"/>
                </a:solidFill>
                <a:latin typeface="Calibri" pitchFamily="34" charset="0"/>
                <a:ea typeface="Calibri" pitchFamily="34" charset="-122"/>
                <a:cs typeface="Calibri" pitchFamily="34" charset="-120"/>
              </a:rPr>
              <a:t>in parallel</a:t>
            </a:r>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 on the </a:t>
            </a:r>
            <a:pPr indent="0" marL="0">
              <a:lnSpc>
                <a:spcPct val="130000"/>
              </a:lnSpc>
              <a:buNone/>
            </a:pPr>
            <a:r>
              <a:rPr lang="en-US" sz="1050" b="1" i="1" dirty="0">
                <a:solidFill>
                  <a:srgbClr val="268BD2"/>
                </a:solidFill>
                <a:latin typeface="Calibri" pitchFamily="34" charset="0"/>
                <a:ea typeface="Calibri" pitchFamily="34" charset="-122"/>
                <a:cs typeface="Calibri" pitchFamily="34" charset="-120"/>
              </a:rPr>
              <a:t>same codebase</a:t>
            </a:r>
            <a:pPr indent="0" marL="0">
              <a:lnSpc>
                <a:spcPct val="130000"/>
              </a:lnSpc>
              <a:buNone/>
            </a:pPr>
            <a:r>
              <a:rPr lang="en-US" sz="1050" dirty="0">
                <a:solidFill>
                  <a:srgbClr val="4A5568"/>
                </a:solidFill>
                <a:latin typeface="Calibri" pitchFamily="34" charset="0"/>
                <a:ea typeface="Calibri" pitchFamily="34" charset="-122"/>
                <a:cs typeface="Calibri" pitchFamily="34" charset="-120"/>
              </a:rPr>
              <a:t>. The result is a working product, not another handoff.</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A202C"/>
                </a:solidFill>
                <a:latin typeface="Trebuchet MS" pitchFamily="34" charset="0"/>
                <a:ea typeface="Trebuchet MS" pitchFamily="34" charset="-122"/>
                <a:cs typeface="Trebuchet MS" pitchFamily="34" charset="-120"/>
              </a:rPr>
              <a:t>Why "Looks Right" Isn't Enough</a:t>
            </a:r>
            <a:endParaRPr lang="en-US" sz="30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indent="0" marL="0">
              <a:buNone/>
            </a:pPr>
            <a:r>
              <a:rPr lang="en-US" sz="1300" dirty="0">
                <a:solidFill>
                  <a:srgbClr val="93A1A1"/>
                </a:solidFill>
                <a:latin typeface="Calibri" pitchFamily="34" charset="0"/>
                <a:ea typeface="Calibri" pitchFamily="34" charset="-122"/>
                <a:cs typeface="Calibri" pitchFamily="34" charset="-120"/>
              </a:rPr>
              <a:t>The code under the hood matters just as much as the pixels on screen</a:t>
            </a:r>
            <a:endParaRPr lang="en-US" sz="1300" dirty="0"/>
          </a:p>
        </p:txBody>
      </p:sp>
      <p:sp>
        <p:nvSpPr>
          <p:cNvPr id="4" name="Shape 2"/>
          <p:cNvSpPr/>
          <p:nvPr/>
        </p:nvSpPr>
        <p:spPr>
          <a:xfrm>
            <a:off x="731520" y="1280160"/>
            <a:ext cx="3474720" cy="2377440"/>
          </a:xfrm>
          <a:prstGeom prst="rect">
            <a:avLst/>
          </a:prstGeom>
          <a:solidFill>
            <a:srgbClr val="FEF2F2"/>
          </a:solidFill>
          <a:ln w="25400">
            <a:solidFill>
              <a:srgbClr val="DC322F"/>
            </a:solidFill>
            <a:prstDash val="solid"/>
          </a:ln>
          <a:effectLst>
            <a:outerShdw sx="100000" sy="100000" kx="0" ky="0" algn="bl" rotWithShape="0" blurRad="101600" dist="25400" dir="8100000">
              <a:srgbClr val="000000">
                <a:alpha val="8000"/>
              </a:srgbClr>
            </a:outerShdw>
          </a:effectLst>
        </p:spPr>
      </p:sp>
      <p:sp>
        <p:nvSpPr>
          <p:cNvPr id="5" name="Text 3"/>
          <p:cNvSpPr/>
          <p:nvPr/>
        </p:nvSpPr>
        <p:spPr>
          <a:xfrm>
            <a:off x="731520" y="1417320"/>
            <a:ext cx="3474720" cy="365760"/>
          </a:xfrm>
          <a:prstGeom prst="rect">
            <a:avLst/>
          </a:prstGeom>
          <a:noFill/>
          <a:ln/>
        </p:spPr>
        <p:txBody>
          <a:bodyPr wrap="square" lIns="0" tIns="0" rIns="0" bIns="0" rtlCol="0" anchor="ctr"/>
          <a:lstStyle/>
          <a:p>
            <a:pPr algn="ctr" indent="0" marL="0">
              <a:buNone/>
            </a:pPr>
            <a:r>
              <a:rPr lang="en-US" sz="1800" b="1" dirty="0">
                <a:solidFill>
                  <a:srgbClr val="DC322F"/>
                </a:solidFill>
                <a:latin typeface="Trebuchet MS" pitchFamily="34" charset="0"/>
                <a:ea typeface="Trebuchet MS" pitchFamily="34" charset="-122"/>
                <a:cs typeface="Trebuchet MS" pitchFamily="34" charset="-120"/>
              </a:rPr>
              <a:t>Without Cursor</a:t>
            </a:r>
            <a:endParaRPr lang="en-US" sz="1800" dirty="0"/>
          </a:p>
        </p:txBody>
      </p:sp>
      <p:sp>
        <p:nvSpPr>
          <p:cNvPr id="6" name="Text 4"/>
          <p:cNvSpPr/>
          <p:nvPr/>
        </p:nvSpPr>
        <p:spPr>
          <a:xfrm>
            <a:off x="1005840" y="1828800"/>
            <a:ext cx="2926080" cy="777240"/>
          </a:xfrm>
          <a:prstGeom prst="rect">
            <a:avLst/>
          </a:prstGeom>
          <a:noFill/>
          <a:ln/>
        </p:spPr>
        <p:txBody>
          <a:bodyPr wrap="square" lIns="0" tIns="0" rIns="0" bIns="0" rtlCol="0" anchor="ctr"/>
          <a:lstStyle/>
          <a:p>
            <a:pPr indent="0" marL="0">
              <a:lnSpc>
                <a:spcPct val="140000"/>
              </a:lnSpc>
              <a:buNone/>
            </a:pPr>
            <a:r>
              <a:rPr lang="en-US" sz="1100" dirty="0">
                <a:solidFill>
                  <a:srgbClr val="4A5568"/>
                </a:solidFill>
                <a:latin typeface="Calibri" pitchFamily="34" charset="0"/>
                <a:ea typeface="Calibri" pitchFamily="34" charset="-122"/>
                <a:cs typeface="Calibri" pitchFamily="34" charset="-120"/>
              </a:rPr>
              <a:t>It's like getting an IKEA instruction manual with perfect pictures of what to build — but all the words are in a language you don't speak.</a:t>
            </a:r>
            <a:endParaRPr lang="en-US" sz="1100" dirty="0"/>
          </a:p>
        </p:txBody>
      </p:sp>
      <p:sp>
        <p:nvSpPr>
          <p:cNvPr id="7" name="Text 5"/>
          <p:cNvSpPr/>
          <p:nvPr/>
        </p:nvSpPr>
        <p:spPr>
          <a:xfrm>
            <a:off x="1005840" y="2606040"/>
            <a:ext cx="2926080" cy="640080"/>
          </a:xfrm>
          <a:prstGeom prst="rect">
            <a:avLst/>
          </a:prstGeom>
          <a:noFill/>
          <a:ln/>
        </p:spPr>
        <p:txBody>
          <a:bodyPr wrap="square" lIns="0" tIns="0" rIns="0" bIns="0" rtlCol="0" anchor="ctr"/>
          <a:lstStyle/>
          <a:p>
            <a:pPr indent="0" marL="0">
              <a:lnSpc>
                <a:spcPct val="140000"/>
              </a:lnSpc>
              <a:buNone/>
            </a:pPr>
            <a:r>
              <a:rPr lang="en-US" sz="1000" dirty="0">
                <a:solidFill>
                  <a:srgbClr val="93A1A1"/>
                </a:solidFill>
                <a:latin typeface="Calibri" pitchFamily="34" charset="0"/>
                <a:ea typeface="Calibri" pitchFamily="34" charset="-122"/>
                <a:cs typeface="Calibri" pitchFamily="34" charset="-120"/>
              </a:rPr>
              <a:t>You can see what the end result should look like. But you can't actually follow the steps. The parts don't match what's in your box.</a:t>
            </a:r>
            <a:endParaRPr lang="en-US" sz="1000" dirty="0"/>
          </a:p>
        </p:txBody>
      </p:sp>
      <p:sp>
        <p:nvSpPr>
          <p:cNvPr id="8" name="Text 6"/>
          <p:cNvSpPr/>
          <p:nvPr/>
        </p:nvSpPr>
        <p:spPr>
          <a:xfrm>
            <a:off x="1005840" y="3246120"/>
            <a:ext cx="2926080" cy="365760"/>
          </a:xfrm>
          <a:prstGeom prst="rect">
            <a:avLst/>
          </a:prstGeom>
          <a:noFill/>
          <a:ln/>
        </p:spPr>
        <p:txBody>
          <a:bodyPr wrap="square" lIns="0" tIns="0" rIns="0" bIns="0" rtlCol="0" anchor="ctr"/>
          <a:lstStyle/>
          <a:p>
            <a:pPr indent="0" marL="0">
              <a:lnSpc>
                <a:spcPct val="130000"/>
              </a:lnSpc>
              <a:buNone/>
            </a:pPr>
            <a:r>
              <a:rPr lang="en-US" sz="900" i="1" dirty="0">
                <a:solidFill>
                  <a:srgbClr val="DC322F"/>
                </a:solidFill>
                <a:latin typeface="Calibri" pitchFamily="34" charset="0"/>
                <a:ea typeface="Calibri" pitchFamily="34" charset="-122"/>
                <a:cs typeface="Calibri" pitchFamily="34" charset="-120"/>
              </a:rPr>
              <a:t>AI generates code that looks right but uses the wrong components, the wrong structure, the wrong "language" for your codebase.</a:t>
            </a:r>
            <a:endParaRPr lang="en-US" sz="900" dirty="0"/>
          </a:p>
        </p:txBody>
      </p:sp>
      <p:sp>
        <p:nvSpPr>
          <p:cNvPr id="9" name="Text 7"/>
          <p:cNvSpPr/>
          <p:nvPr/>
        </p:nvSpPr>
        <p:spPr>
          <a:xfrm>
            <a:off x="4206240" y="2103120"/>
            <a:ext cx="731520" cy="548640"/>
          </a:xfrm>
          <a:prstGeom prst="rect">
            <a:avLst/>
          </a:prstGeom>
          <a:noFill/>
          <a:ln/>
        </p:spPr>
        <p:txBody>
          <a:bodyPr wrap="square" lIns="0" tIns="0" rIns="0" bIns="0" rtlCol="0" anchor="ctr"/>
          <a:lstStyle/>
          <a:p>
            <a:pPr algn="ctr" indent="0" marL="0">
              <a:buNone/>
            </a:pPr>
            <a:r>
              <a:rPr lang="en-US" sz="2800" dirty="0">
                <a:solidFill>
                  <a:srgbClr val="93A1A1"/>
                </a:solidFill>
              </a:rPr>
              <a:t>→</a:t>
            </a:r>
            <a:endParaRPr lang="en-US" sz="2800" dirty="0"/>
          </a:p>
        </p:txBody>
      </p:sp>
      <p:sp>
        <p:nvSpPr>
          <p:cNvPr id="10" name="Shape 8"/>
          <p:cNvSpPr/>
          <p:nvPr/>
        </p:nvSpPr>
        <p:spPr>
          <a:xfrm>
            <a:off x="4937760" y="1280160"/>
            <a:ext cx="3474720" cy="2377440"/>
          </a:xfrm>
          <a:prstGeom prst="rect">
            <a:avLst/>
          </a:prstGeom>
          <a:solidFill>
            <a:srgbClr val="F0FDFA"/>
          </a:solidFill>
          <a:ln w="25400">
            <a:solidFill>
              <a:srgbClr val="2AA198"/>
            </a:solidFill>
            <a:prstDash val="solid"/>
          </a:ln>
          <a:effectLst>
            <a:outerShdw sx="100000" sy="100000" kx="0" ky="0" algn="bl" rotWithShape="0" blurRad="101600" dist="25400" dir="8100000">
              <a:srgbClr val="000000">
                <a:alpha val="8000"/>
              </a:srgbClr>
            </a:outerShdw>
          </a:effectLst>
        </p:spPr>
      </p:sp>
      <p:sp>
        <p:nvSpPr>
          <p:cNvPr id="11" name="Text 9"/>
          <p:cNvSpPr/>
          <p:nvPr/>
        </p:nvSpPr>
        <p:spPr>
          <a:xfrm>
            <a:off x="4937760" y="1417320"/>
            <a:ext cx="3474720" cy="365760"/>
          </a:xfrm>
          <a:prstGeom prst="rect">
            <a:avLst/>
          </a:prstGeom>
          <a:noFill/>
          <a:ln/>
        </p:spPr>
        <p:txBody>
          <a:bodyPr wrap="square" lIns="0" tIns="0" rIns="0" bIns="0" rtlCol="0" anchor="ctr"/>
          <a:lstStyle/>
          <a:p>
            <a:pPr algn="ctr" indent="0" marL="0">
              <a:buNone/>
            </a:pPr>
            <a:r>
              <a:rPr lang="en-US" sz="1600" b="1" dirty="0">
                <a:solidFill>
                  <a:srgbClr val="2AA198"/>
                </a:solidFill>
                <a:latin typeface="Trebuchet MS" pitchFamily="34" charset="0"/>
                <a:ea typeface="Trebuchet MS" pitchFamily="34" charset="-122"/>
                <a:cs typeface="Trebuchet MS" pitchFamily="34" charset="-120"/>
              </a:rPr>
              <a:t>With Cursor + Figma MCP</a:t>
            </a:r>
            <a:endParaRPr lang="en-US" sz="1600" dirty="0"/>
          </a:p>
        </p:txBody>
      </p:sp>
      <p:sp>
        <p:nvSpPr>
          <p:cNvPr id="12" name="Text 10"/>
          <p:cNvSpPr/>
          <p:nvPr/>
        </p:nvSpPr>
        <p:spPr>
          <a:xfrm>
            <a:off x="5212080" y="1828800"/>
            <a:ext cx="2926080" cy="777240"/>
          </a:xfrm>
          <a:prstGeom prst="rect">
            <a:avLst/>
          </a:prstGeom>
          <a:noFill/>
          <a:ln/>
        </p:spPr>
        <p:txBody>
          <a:bodyPr wrap="square" lIns="0" tIns="0" rIns="0" bIns="0" rtlCol="0" anchor="ctr"/>
          <a:lstStyle/>
          <a:p>
            <a:pPr indent="0" marL="0">
              <a:lnSpc>
                <a:spcPct val="140000"/>
              </a:lnSpc>
              <a:buNone/>
            </a:pPr>
            <a:r>
              <a:rPr lang="en-US" sz="1100" dirty="0">
                <a:solidFill>
                  <a:srgbClr val="4A5568"/>
                </a:solidFill>
                <a:latin typeface="Calibri" pitchFamily="34" charset="0"/>
                <a:ea typeface="Calibri" pitchFamily="34" charset="-122"/>
                <a:cs typeface="Calibri" pitchFamily="34" charset="-120"/>
              </a:rPr>
              <a:t>Same instruction manual, same pictures — but now it's translated into your language, referencing the specific tools and parts you already have.</a:t>
            </a:r>
            <a:endParaRPr lang="en-US" sz="1100" dirty="0"/>
          </a:p>
        </p:txBody>
      </p:sp>
      <p:sp>
        <p:nvSpPr>
          <p:cNvPr id="13" name="Text 11"/>
          <p:cNvSpPr/>
          <p:nvPr/>
        </p:nvSpPr>
        <p:spPr>
          <a:xfrm>
            <a:off x="5212080" y="2606040"/>
            <a:ext cx="2926080" cy="640080"/>
          </a:xfrm>
          <a:prstGeom prst="rect">
            <a:avLst/>
          </a:prstGeom>
          <a:noFill/>
          <a:ln/>
        </p:spPr>
        <p:txBody>
          <a:bodyPr wrap="square" lIns="0" tIns="0" rIns="0" bIns="0" rtlCol="0" anchor="ctr"/>
          <a:lstStyle/>
          <a:p>
            <a:pPr indent="0" marL="0">
              <a:lnSpc>
                <a:spcPct val="140000"/>
              </a:lnSpc>
              <a:buNone/>
            </a:pPr>
            <a:r>
              <a:rPr lang="en-US" sz="1000" dirty="0">
                <a:solidFill>
                  <a:srgbClr val="93A1A1"/>
                </a:solidFill>
                <a:latin typeface="Calibri" pitchFamily="34" charset="0"/>
                <a:ea typeface="Calibri" pitchFamily="34" charset="-122"/>
                <a:cs typeface="Calibri" pitchFamily="34" charset="-120"/>
              </a:rPr>
              <a:t>Step 3 says "use the Allen wrench from bag B" — and bag B is actually in your box. Everything fits.</a:t>
            </a:r>
            <a:endParaRPr lang="en-US" sz="1000" dirty="0"/>
          </a:p>
        </p:txBody>
      </p:sp>
      <p:sp>
        <p:nvSpPr>
          <p:cNvPr id="14" name="Text 12"/>
          <p:cNvSpPr/>
          <p:nvPr/>
        </p:nvSpPr>
        <p:spPr>
          <a:xfrm>
            <a:off x="5212080" y="3246120"/>
            <a:ext cx="2926080" cy="365760"/>
          </a:xfrm>
          <a:prstGeom prst="rect">
            <a:avLst/>
          </a:prstGeom>
          <a:noFill/>
          <a:ln/>
        </p:spPr>
        <p:txBody>
          <a:bodyPr wrap="square" lIns="0" tIns="0" rIns="0" bIns="0" rtlCol="0" anchor="ctr"/>
          <a:lstStyle/>
          <a:p>
            <a:pPr indent="0" marL="0">
              <a:lnSpc>
                <a:spcPct val="130000"/>
              </a:lnSpc>
              <a:buNone/>
            </a:pPr>
            <a:r>
              <a:rPr lang="en-US" sz="900" i="1" dirty="0">
                <a:solidFill>
                  <a:srgbClr val="2AA198"/>
                </a:solidFill>
                <a:latin typeface="Calibri" pitchFamily="34" charset="0"/>
                <a:ea typeface="Calibri" pitchFamily="34" charset="-122"/>
                <a:cs typeface="Calibri" pitchFamily="34" charset="-120"/>
              </a:rPr>
              <a:t>Cursor knows your codebase, your components, your framework. The code it generates actually fits.</a:t>
            </a:r>
            <a:endParaRPr lang="en-US" sz="900" dirty="0"/>
          </a:p>
        </p:txBody>
      </p:sp>
      <p:sp>
        <p:nvSpPr>
          <p:cNvPr id="15" name="Shape 13"/>
          <p:cNvSpPr/>
          <p:nvPr/>
        </p:nvSpPr>
        <p:spPr>
          <a:xfrm>
            <a:off x="731520" y="3840480"/>
            <a:ext cx="7680960" cy="1005840"/>
          </a:xfrm>
          <a:prstGeom prst="rect">
            <a:avLst/>
          </a:prstGeom>
          <a:solidFill>
            <a:srgbClr val="F0F9FF"/>
          </a:solidFill>
          <a:ln w="12700">
            <a:solidFill>
              <a:srgbClr val="BFDBFE"/>
            </a:solidFill>
            <a:prstDash val="solid"/>
          </a:ln>
        </p:spPr>
      </p:sp>
      <p:sp>
        <p:nvSpPr>
          <p:cNvPr id="16" name="Text 14"/>
          <p:cNvSpPr/>
          <p:nvPr/>
        </p:nvSpPr>
        <p:spPr>
          <a:xfrm>
            <a:off x="914400" y="3931920"/>
            <a:ext cx="7315200" cy="822960"/>
          </a:xfrm>
          <a:prstGeom prst="rect">
            <a:avLst/>
          </a:prstGeom>
          <a:noFill/>
          <a:ln/>
        </p:spPr>
        <p:txBody>
          <a:bodyPr wrap="square" lIns="0" tIns="0" rIns="0" bIns="0" rtlCol="0" anchor="ctr"/>
          <a:lstStyle/>
          <a:p>
            <a:pPr indent="0" marL="0">
              <a:lnSpc>
                <a:spcPct val="140000"/>
              </a:lnSpc>
              <a:buNone/>
            </a:pPr>
            <a:r>
              <a:rPr lang="en-US" sz="1100" b="1" dirty="0">
                <a:solidFill>
                  <a:srgbClr val="1A202C"/>
                </a:solidFill>
                <a:latin typeface="Calibri" pitchFamily="34" charset="0"/>
                <a:ea typeface="Calibri" pitchFamily="34" charset="-122"/>
                <a:cs typeface="Calibri" pitchFamily="34" charset="-120"/>
              </a:rPr>
              <a:t>For Sigma: </a:t>
            </a:r>
            <a:pPr indent="0" marL="0">
              <a:lnSpc>
                <a:spcPct val="140000"/>
              </a:lnSpc>
              <a:buNone/>
            </a:pPr>
            <a:r>
              <a:rPr lang="en-US" sz="1100" dirty="0">
                <a:solidFill>
                  <a:srgbClr val="4A5568"/>
                </a:solidFill>
                <a:latin typeface="Calibri" pitchFamily="34" charset="0"/>
                <a:ea typeface="Calibri" pitchFamily="34" charset="-122"/>
                <a:cs typeface="Calibri" pitchFamily="34" charset="-120"/>
              </a:rPr>
              <a:t>Their "language" is Vue + the Zen design system. When ChatGPT generates React code with custom CSS, it's a beautiful picture with instructions in the wrong language. Cursor generates Vue code using actual Zen components.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A202C"/>
                </a:solidFill>
                <a:latin typeface="Trebuchet MS" pitchFamily="34" charset="0"/>
                <a:ea typeface="Trebuchet MS" pitchFamily="34" charset="-122"/>
                <a:cs typeface="Trebuchet MS" pitchFamily="34" charset="-120"/>
              </a:rPr>
              <a:t>Three Ways Design Becomes Code</a:t>
            </a:r>
            <a:endParaRPr lang="en-US" sz="30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indent="0" marL="0">
              <a:buNone/>
            </a:pPr>
            <a:r>
              <a:rPr lang="en-US" sz="1400" dirty="0">
                <a:solidFill>
                  <a:srgbClr val="93A1A1"/>
                </a:solidFill>
                <a:latin typeface="Calibri" pitchFamily="34" charset="0"/>
                <a:ea typeface="Calibri" pitchFamily="34" charset="-122"/>
                <a:cs typeface="Calibri" pitchFamily="34" charset="-120"/>
              </a:rPr>
              <a:t>Same mockup, very different outcomes</a:t>
            </a:r>
            <a:endParaRPr lang="en-US" sz="1400" dirty="0"/>
          </a:p>
        </p:txBody>
      </p:sp>
      <p:sp>
        <p:nvSpPr>
          <p:cNvPr id="4" name="Shape 2"/>
          <p:cNvSpPr/>
          <p:nvPr/>
        </p:nvSpPr>
        <p:spPr>
          <a:xfrm>
            <a:off x="731520" y="1234440"/>
            <a:ext cx="2514600" cy="3520440"/>
          </a:xfrm>
          <a:prstGeom prst="rect">
            <a:avLst/>
          </a:prstGeom>
          <a:solidFill>
            <a:srgbClr val="FEF2F2"/>
          </a:solidFill>
          <a:ln w="19050">
            <a:solidFill>
              <a:srgbClr val="DC322F"/>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731520" y="1234440"/>
            <a:ext cx="2514600" cy="54864"/>
          </a:xfrm>
          <a:prstGeom prst="rect">
            <a:avLst/>
          </a:prstGeom>
          <a:solidFill>
            <a:srgbClr val="DC322F"/>
          </a:solidFill>
          <a:ln/>
        </p:spPr>
      </p:sp>
      <p:sp>
        <p:nvSpPr>
          <p:cNvPr id="6" name="Text 4"/>
          <p:cNvSpPr/>
          <p:nvPr/>
        </p:nvSpPr>
        <p:spPr>
          <a:xfrm>
            <a:off x="914400" y="1417320"/>
            <a:ext cx="2148840" cy="182880"/>
          </a:xfrm>
          <a:prstGeom prst="rect">
            <a:avLst/>
          </a:prstGeom>
          <a:noFill/>
          <a:ln/>
        </p:spPr>
        <p:txBody>
          <a:bodyPr wrap="square" lIns="0" tIns="0" rIns="0" bIns="0" rtlCol="0" anchor="ctr"/>
          <a:lstStyle/>
          <a:p>
            <a:pPr indent="0" marL="0">
              <a:buNone/>
            </a:pPr>
            <a:r>
              <a:rPr lang="en-US" sz="800" b="1" spc="150" kern="0" dirty="0">
                <a:solidFill>
                  <a:srgbClr val="DC322F"/>
                </a:solidFill>
                <a:latin typeface="Calibri" pitchFamily="34" charset="0"/>
                <a:ea typeface="Calibri" pitchFamily="34" charset="-122"/>
                <a:cs typeface="Calibri" pitchFamily="34" charset="-120"/>
              </a:rPr>
              <a:t>APPROACH 1</a:t>
            </a:r>
            <a:endParaRPr lang="en-US" sz="800" dirty="0"/>
          </a:p>
        </p:txBody>
      </p:sp>
      <p:pic>
        <p:nvPicPr>
          <p:cNvPr id="7" name="Image 0" descr="preencoded.png">    </p:cNvPr>
          <p:cNvPicPr>
            <a:picLocks noChangeAspect="1"/>
          </p:cNvPicPr>
          <p:nvPr/>
        </p:nvPicPr>
        <p:blipFill>
          <a:blip r:embed="rId1"/>
          <a:stretch>
            <a:fillRect/>
          </a:stretch>
        </p:blipFill>
        <p:spPr>
          <a:xfrm>
            <a:off x="2743200" y="1389888"/>
            <a:ext cx="228600" cy="228600"/>
          </a:xfrm>
          <a:prstGeom prst="rect">
            <a:avLst/>
          </a:prstGeom>
        </p:spPr>
      </p:pic>
      <p:sp>
        <p:nvSpPr>
          <p:cNvPr id="8" name="Text 5"/>
          <p:cNvSpPr/>
          <p:nvPr/>
        </p:nvSpPr>
        <p:spPr>
          <a:xfrm>
            <a:off x="914400" y="1627632"/>
            <a:ext cx="2148840" cy="320040"/>
          </a:xfrm>
          <a:prstGeom prst="rect">
            <a:avLst/>
          </a:prstGeom>
          <a:noFill/>
          <a:ln/>
        </p:spPr>
        <p:txBody>
          <a:bodyPr wrap="square" lIns="0" tIns="0" rIns="0" bIns="0" rtlCol="0" anchor="ctr"/>
          <a:lstStyle/>
          <a:p>
            <a:pPr indent="0" marL="0">
              <a:buNone/>
            </a:pPr>
            <a:r>
              <a:rPr lang="en-US" sz="1500" b="1" dirty="0">
                <a:solidFill>
                  <a:srgbClr val="1A202C"/>
                </a:solidFill>
                <a:latin typeface="Trebuchet MS" pitchFamily="34" charset="0"/>
                <a:ea typeface="Trebuchet MS" pitchFamily="34" charset="-122"/>
                <a:cs typeface="Trebuchet MS" pitchFamily="34" charset="-120"/>
              </a:rPr>
              <a:t>Traditional Handoff</a:t>
            </a:r>
            <a:endParaRPr lang="en-US" sz="1500" dirty="0"/>
          </a:p>
        </p:txBody>
      </p:sp>
      <p:sp>
        <p:nvSpPr>
          <p:cNvPr id="9" name="Text 6"/>
          <p:cNvSpPr/>
          <p:nvPr/>
        </p:nvSpPr>
        <p:spPr>
          <a:xfrm>
            <a:off x="914400" y="2011680"/>
            <a:ext cx="2148840" cy="1920240"/>
          </a:xfrm>
          <a:prstGeom prst="rect">
            <a:avLst/>
          </a:prstGeom>
          <a:noFill/>
          <a:ln/>
        </p:spPr>
        <p:txBody>
          <a:bodyPr wrap="square" lIns="0" tIns="0" rIns="0" bIns="0" rtlCol="0" anchor="ctr"/>
          <a:lstStyle/>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Designer delivers a Figma file</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Engineer rebuilds from scratch</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Weeks of back-and-forth</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"That's not how I designed it"</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"That's not how our components work"</a:t>
            </a:r>
            <a:endParaRPr lang="en-US" sz="1000" dirty="0"/>
          </a:p>
        </p:txBody>
      </p:sp>
      <p:sp>
        <p:nvSpPr>
          <p:cNvPr id="10" name="Shape 7"/>
          <p:cNvSpPr/>
          <p:nvPr/>
        </p:nvSpPr>
        <p:spPr>
          <a:xfrm>
            <a:off x="868680" y="4160520"/>
            <a:ext cx="2240280" cy="411480"/>
          </a:xfrm>
          <a:prstGeom prst="rect">
            <a:avLst/>
          </a:prstGeom>
          <a:solidFill>
            <a:srgbClr val="FECACA"/>
          </a:solidFill>
          <a:ln/>
        </p:spPr>
      </p:sp>
      <p:sp>
        <p:nvSpPr>
          <p:cNvPr id="11" name="Text 8"/>
          <p:cNvSpPr/>
          <p:nvPr/>
        </p:nvSpPr>
        <p:spPr>
          <a:xfrm>
            <a:off x="868680" y="4160520"/>
            <a:ext cx="2240280" cy="411480"/>
          </a:xfrm>
          <a:prstGeom prst="rect">
            <a:avLst/>
          </a:prstGeom>
          <a:noFill/>
          <a:ln/>
        </p:spPr>
        <p:txBody>
          <a:bodyPr wrap="square" lIns="0" tIns="0" rIns="0" bIns="0" rtlCol="0" anchor="ctr"/>
          <a:lstStyle/>
          <a:p>
            <a:pPr algn="ctr" indent="0" marL="0">
              <a:buNone/>
            </a:pPr>
            <a:r>
              <a:rPr lang="en-US" sz="1100" b="1" dirty="0">
                <a:solidFill>
                  <a:srgbClr val="DC322F"/>
                </a:solidFill>
                <a:latin typeface="Calibri" pitchFamily="34" charset="0"/>
                <a:ea typeface="Calibri" pitchFamily="34" charset="-122"/>
                <a:cs typeface="Calibri" pitchFamily="34" charset="-120"/>
              </a:rPr>
              <a:t>Slow, expensive, frustrating</a:t>
            </a:r>
            <a:endParaRPr lang="en-US" sz="1100" dirty="0"/>
          </a:p>
        </p:txBody>
      </p:sp>
      <p:sp>
        <p:nvSpPr>
          <p:cNvPr id="12" name="Shape 9"/>
          <p:cNvSpPr/>
          <p:nvPr/>
        </p:nvSpPr>
        <p:spPr>
          <a:xfrm>
            <a:off x="3474720" y="1234440"/>
            <a:ext cx="2514600" cy="3520440"/>
          </a:xfrm>
          <a:prstGeom prst="rect">
            <a:avLst/>
          </a:prstGeom>
          <a:solidFill>
            <a:srgbClr val="FFFBEB"/>
          </a:solidFill>
          <a:ln w="19050">
            <a:solidFill>
              <a:srgbClr val="B58900"/>
            </a:solidFill>
            <a:prstDash val="solid"/>
          </a:ln>
          <a:effectLst>
            <a:outerShdw sx="100000" sy="100000" kx="0" ky="0" algn="bl" rotWithShape="0" blurRad="101600" dist="25400" dir="8100000">
              <a:srgbClr val="000000">
                <a:alpha val="8000"/>
              </a:srgbClr>
            </a:outerShdw>
          </a:effectLst>
        </p:spPr>
      </p:sp>
      <p:sp>
        <p:nvSpPr>
          <p:cNvPr id="13" name="Shape 10"/>
          <p:cNvSpPr/>
          <p:nvPr/>
        </p:nvSpPr>
        <p:spPr>
          <a:xfrm>
            <a:off x="3474720" y="1234440"/>
            <a:ext cx="2514600" cy="54864"/>
          </a:xfrm>
          <a:prstGeom prst="rect">
            <a:avLst/>
          </a:prstGeom>
          <a:solidFill>
            <a:srgbClr val="B58900"/>
          </a:solidFill>
          <a:ln/>
        </p:spPr>
      </p:sp>
      <p:sp>
        <p:nvSpPr>
          <p:cNvPr id="14" name="Text 11"/>
          <p:cNvSpPr/>
          <p:nvPr/>
        </p:nvSpPr>
        <p:spPr>
          <a:xfrm>
            <a:off x="3657600" y="1417320"/>
            <a:ext cx="2148840" cy="182880"/>
          </a:xfrm>
          <a:prstGeom prst="rect">
            <a:avLst/>
          </a:prstGeom>
          <a:noFill/>
          <a:ln/>
        </p:spPr>
        <p:txBody>
          <a:bodyPr wrap="square" lIns="0" tIns="0" rIns="0" bIns="0" rtlCol="0" anchor="ctr"/>
          <a:lstStyle/>
          <a:p>
            <a:pPr indent="0" marL="0">
              <a:buNone/>
            </a:pPr>
            <a:r>
              <a:rPr lang="en-US" sz="800" b="1" spc="150" kern="0" dirty="0">
                <a:solidFill>
                  <a:srgbClr val="B58900"/>
                </a:solidFill>
                <a:latin typeface="Calibri" pitchFamily="34" charset="0"/>
                <a:ea typeface="Calibri" pitchFamily="34" charset="-122"/>
                <a:cs typeface="Calibri" pitchFamily="34" charset="-120"/>
              </a:rPr>
              <a:t>APPROACH 2</a:t>
            </a:r>
            <a:endParaRPr lang="en-US" sz="800" dirty="0"/>
          </a:p>
        </p:txBody>
      </p:sp>
      <p:pic>
        <p:nvPicPr>
          <p:cNvPr id="15" name="Image 1" descr="preencoded.png">    </p:cNvPr>
          <p:cNvPicPr>
            <a:picLocks noChangeAspect="1"/>
          </p:cNvPicPr>
          <p:nvPr/>
        </p:nvPicPr>
        <p:blipFill>
          <a:blip r:embed="rId2"/>
          <a:stretch>
            <a:fillRect/>
          </a:stretch>
        </p:blipFill>
        <p:spPr>
          <a:xfrm>
            <a:off x="5486400" y="1389888"/>
            <a:ext cx="228600" cy="228600"/>
          </a:xfrm>
          <a:prstGeom prst="rect">
            <a:avLst/>
          </a:prstGeom>
        </p:spPr>
      </p:pic>
      <p:sp>
        <p:nvSpPr>
          <p:cNvPr id="16" name="Text 12"/>
          <p:cNvSpPr/>
          <p:nvPr/>
        </p:nvSpPr>
        <p:spPr>
          <a:xfrm>
            <a:off x="3657600" y="1627632"/>
            <a:ext cx="2148840" cy="320040"/>
          </a:xfrm>
          <a:prstGeom prst="rect">
            <a:avLst/>
          </a:prstGeom>
          <a:noFill/>
          <a:ln/>
        </p:spPr>
        <p:txBody>
          <a:bodyPr wrap="square" lIns="0" tIns="0" rIns="0" bIns="0" rtlCol="0" anchor="ctr"/>
          <a:lstStyle/>
          <a:p>
            <a:pPr indent="0" marL="0">
              <a:buNone/>
            </a:pPr>
            <a:r>
              <a:rPr lang="en-US" sz="1500" b="1" dirty="0">
                <a:solidFill>
                  <a:srgbClr val="1A202C"/>
                </a:solidFill>
                <a:latin typeface="Trebuchet MS" pitchFamily="34" charset="0"/>
                <a:ea typeface="Trebuchet MS" pitchFamily="34" charset="-122"/>
                <a:cs typeface="Trebuchet MS" pitchFamily="34" charset="-120"/>
              </a:rPr>
              <a:t>AI Without Context</a:t>
            </a:r>
            <a:endParaRPr lang="en-US" sz="1500" dirty="0"/>
          </a:p>
        </p:txBody>
      </p:sp>
      <p:sp>
        <p:nvSpPr>
          <p:cNvPr id="17" name="Text 13"/>
          <p:cNvSpPr/>
          <p:nvPr/>
        </p:nvSpPr>
        <p:spPr>
          <a:xfrm>
            <a:off x="3657600" y="2011680"/>
            <a:ext cx="2148840" cy="1920240"/>
          </a:xfrm>
          <a:prstGeom prst="rect">
            <a:avLst/>
          </a:prstGeom>
          <a:noFill/>
          <a:ln/>
        </p:spPr>
        <p:txBody>
          <a:bodyPr wrap="square" lIns="0" tIns="0" rIns="0" bIns="0" rtlCol="0" anchor="ctr"/>
          <a:lstStyle/>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Designer pastes screenshot into ChatGPT</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Gets code that looks right</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But it's React when you need Vue</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Custom CSS instead of design system</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Can't be merged into real codebase</a:t>
            </a:r>
            <a:endParaRPr lang="en-US" sz="1000" dirty="0"/>
          </a:p>
        </p:txBody>
      </p:sp>
      <p:sp>
        <p:nvSpPr>
          <p:cNvPr id="18" name="Shape 14"/>
          <p:cNvSpPr/>
          <p:nvPr/>
        </p:nvSpPr>
        <p:spPr>
          <a:xfrm>
            <a:off x="3611880" y="4160520"/>
            <a:ext cx="2240280" cy="411480"/>
          </a:xfrm>
          <a:prstGeom prst="rect">
            <a:avLst/>
          </a:prstGeom>
          <a:solidFill>
            <a:srgbClr val="FDE68A"/>
          </a:solidFill>
          <a:ln/>
        </p:spPr>
      </p:sp>
      <p:sp>
        <p:nvSpPr>
          <p:cNvPr id="19" name="Text 15"/>
          <p:cNvSpPr/>
          <p:nvPr/>
        </p:nvSpPr>
        <p:spPr>
          <a:xfrm>
            <a:off x="3611880" y="4160520"/>
            <a:ext cx="2240280" cy="411480"/>
          </a:xfrm>
          <a:prstGeom prst="rect">
            <a:avLst/>
          </a:prstGeom>
          <a:noFill/>
          <a:ln/>
        </p:spPr>
        <p:txBody>
          <a:bodyPr wrap="square" lIns="0" tIns="0" rIns="0" bIns="0" rtlCol="0" anchor="ctr"/>
          <a:lstStyle/>
          <a:p>
            <a:pPr algn="ctr" indent="0" marL="0">
              <a:buNone/>
            </a:pPr>
            <a:r>
              <a:rPr lang="en-US" sz="1100" b="1" dirty="0">
                <a:solidFill>
                  <a:srgbClr val="92400E"/>
                </a:solidFill>
                <a:latin typeface="Calibri" pitchFamily="34" charset="0"/>
                <a:ea typeface="Calibri" pitchFamily="34" charset="-122"/>
                <a:cs typeface="Calibri" pitchFamily="34" charset="-120"/>
              </a:rPr>
              <a:t>Fast but incompatible</a:t>
            </a:r>
            <a:endParaRPr lang="en-US" sz="1100" dirty="0"/>
          </a:p>
        </p:txBody>
      </p:sp>
      <p:sp>
        <p:nvSpPr>
          <p:cNvPr id="20" name="Shape 16"/>
          <p:cNvSpPr/>
          <p:nvPr/>
        </p:nvSpPr>
        <p:spPr>
          <a:xfrm>
            <a:off x="6217920" y="1234440"/>
            <a:ext cx="2514600" cy="3520440"/>
          </a:xfrm>
          <a:prstGeom prst="rect">
            <a:avLst/>
          </a:prstGeom>
          <a:solidFill>
            <a:srgbClr val="F0FDFA"/>
          </a:solidFill>
          <a:ln w="19050">
            <a:solidFill>
              <a:srgbClr val="2AA198"/>
            </a:solidFill>
            <a:prstDash val="solid"/>
          </a:ln>
          <a:effectLst>
            <a:outerShdw sx="100000" sy="100000" kx="0" ky="0" algn="bl" rotWithShape="0" blurRad="101600" dist="25400" dir="8100000">
              <a:srgbClr val="000000">
                <a:alpha val="8000"/>
              </a:srgbClr>
            </a:outerShdw>
          </a:effectLst>
        </p:spPr>
      </p:sp>
      <p:sp>
        <p:nvSpPr>
          <p:cNvPr id="21" name="Shape 17"/>
          <p:cNvSpPr/>
          <p:nvPr/>
        </p:nvSpPr>
        <p:spPr>
          <a:xfrm>
            <a:off x="6217920" y="1234440"/>
            <a:ext cx="2514600" cy="54864"/>
          </a:xfrm>
          <a:prstGeom prst="rect">
            <a:avLst/>
          </a:prstGeom>
          <a:solidFill>
            <a:srgbClr val="2AA198"/>
          </a:solidFill>
          <a:ln/>
        </p:spPr>
      </p:sp>
      <p:sp>
        <p:nvSpPr>
          <p:cNvPr id="22" name="Text 18"/>
          <p:cNvSpPr/>
          <p:nvPr/>
        </p:nvSpPr>
        <p:spPr>
          <a:xfrm>
            <a:off x="6400800" y="1417320"/>
            <a:ext cx="2148840" cy="182880"/>
          </a:xfrm>
          <a:prstGeom prst="rect">
            <a:avLst/>
          </a:prstGeom>
          <a:noFill/>
          <a:ln/>
        </p:spPr>
        <p:txBody>
          <a:bodyPr wrap="square" lIns="0" tIns="0" rIns="0" bIns="0" rtlCol="0" anchor="ctr"/>
          <a:lstStyle/>
          <a:p>
            <a:pPr indent="0" marL="0">
              <a:buNone/>
            </a:pPr>
            <a:r>
              <a:rPr lang="en-US" sz="800" b="1" spc="150" kern="0" dirty="0">
                <a:solidFill>
                  <a:srgbClr val="2AA198"/>
                </a:solidFill>
                <a:latin typeface="Calibri" pitchFamily="34" charset="0"/>
                <a:ea typeface="Calibri" pitchFamily="34" charset="-122"/>
                <a:cs typeface="Calibri" pitchFamily="34" charset="-120"/>
              </a:rPr>
              <a:t>APPROACH 3</a:t>
            </a:r>
            <a:endParaRPr lang="en-US" sz="800" dirty="0"/>
          </a:p>
        </p:txBody>
      </p:sp>
      <p:pic>
        <p:nvPicPr>
          <p:cNvPr id="23" name="Image 2" descr="preencoded.png">    </p:cNvPr>
          <p:cNvPicPr>
            <a:picLocks noChangeAspect="1"/>
          </p:cNvPicPr>
          <p:nvPr/>
        </p:nvPicPr>
        <p:blipFill>
          <a:blip r:embed="rId3"/>
          <a:stretch>
            <a:fillRect/>
          </a:stretch>
        </p:blipFill>
        <p:spPr>
          <a:xfrm>
            <a:off x="8229600" y="1389888"/>
            <a:ext cx="228600" cy="228600"/>
          </a:xfrm>
          <a:prstGeom prst="rect">
            <a:avLst/>
          </a:prstGeom>
        </p:spPr>
      </p:pic>
      <p:sp>
        <p:nvSpPr>
          <p:cNvPr id="24" name="Text 19"/>
          <p:cNvSpPr/>
          <p:nvPr/>
        </p:nvSpPr>
        <p:spPr>
          <a:xfrm>
            <a:off x="6400800" y="1627632"/>
            <a:ext cx="2148840" cy="320040"/>
          </a:xfrm>
          <a:prstGeom prst="rect">
            <a:avLst/>
          </a:prstGeom>
          <a:noFill/>
          <a:ln/>
        </p:spPr>
        <p:txBody>
          <a:bodyPr wrap="square" lIns="0" tIns="0" rIns="0" bIns="0" rtlCol="0" anchor="ctr"/>
          <a:lstStyle/>
          <a:p>
            <a:pPr indent="0" marL="0">
              <a:buNone/>
            </a:pPr>
            <a:r>
              <a:rPr lang="en-US" sz="1500" b="1" dirty="0">
                <a:solidFill>
                  <a:srgbClr val="1A202C"/>
                </a:solidFill>
                <a:latin typeface="Trebuchet MS" pitchFamily="34" charset="0"/>
                <a:ea typeface="Trebuchet MS" pitchFamily="34" charset="-122"/>
                <a:cs typeface="Trebuchet MS" pitchFamily="34" charset="-120"/>
              </a:rPr>
              <a:t>Cursor + Figma MCP</a:t>
            </a:r>
            <a:endParaRPr lang="en-US" sz="1500" dirty="0"/>
          </a:p>
        </p:txBody>
      </p:sp>
      <p:sp>
        <p:nvSpPr>
          <p:cNvPr id="25" name="Text 20"/>
          <p:cNvSpPr/>
          <p:nvPr/>
        </p:nvSpPr>
        <p:spPr>
          <a:xfrm>
            <a:off x="6400800" y="2011680"/>
            <a:ext cx="2148840" cy="1920240"/>
          </a:xfrm>
          <a:prstGeom prst="rect">
            <a:avLst/>
          </a:prstGeom>
          <a:noFill/>
          <a:ln/>
        </p:spPr>
        <p:txBody>
          <a:bodyPr wrap="square" lIns="0" tIns="0" rIns="0" bIns="0" rtlCol="0" anchor="ctr"/>
          <a:lstStyle/>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Figma MCP pulls the design directly</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Cursor reads your actual codebase</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Generates code in your framework</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Uses your design system components</a:t>
            </a:r>
            <a:endParaRPr lang="en-US" sz="1000" dirty="0"/>
          </a:p>
          <a:p>
            <a:pPr marL="342900" indent="-342900">
              <a:lnSpc>
                <a:spcPct val="150000"/>
              </a:lnSpc>
              <a:spcAft>
                <a:spcPts val="400"/>
              </a:spcAft>
              <a:buSzPct val="100000"/>
              <a:buChar char="•"/>
            </a:pPr>
            <a:r>
              <a:rPr lang="en-US" sz="1000" dirty="0">
                <a:solidFill>
                  <a:srgbClr val="4A5568"/>
                </a:solidFill>
                <a:latin typeface="Calibri" pitchFamily="34" charset="0"/>
                <a:ea typeface="Calibri" pitchFamily="34" charset="-122"/>
                <a:cs typeface="Calibri" pitchFamily="34" charset="-120"/>
              </a:rPr>
              <a:t>Output is mergeable, reviewable, real</a:t>
            </a:r>
            <a:endParaRPr lang="en-US" sz="1000" dirty="0"/>
          </a:p>
        </p:txBody>
      </p:sp>
      <p:sp>
        <p:nvSpPr>
          <p:cNvPr id="26" name="Shape 21"/>
          <p:cNvSpPr/>
          <p:nvPr/>
        </p:nvSpPr>
        <p:spPr>
          <a:xfrm>
            <a:off x="6355080" y="4160520"/>
            <a:ext cx="2240280" cy="411480"/>
          </a:xfrm>
          <a:prstGeom prst="rect">
            <a:avLst/>
          </a:prstGeom>
          <a:solidFill>
            <a:srgbClr val="99F6E4"/>
          </a:solidFill>
          <a:ln/>
        </p:spPr>
      </p:sp>
      <p:sp>
        <p:nvSpPr>
          <p:cNvPr id="27" name="Text 22"/>
          <p:cNvSpPr/>
          <p:nvPr/>
        </p:nvSpPr>
        <p:spPr>
          <a:xfrm>
            <a:off x="6355080" y="4160520"/>
            <a:ext cx="2240280" cy="411480"/>
          </a:xfrm>
          <a:prstGeom prst="rect">
            <a:avLst/>
          </a:prstGeom>
          <a:noFill/>
          <a:ln/>
        </p:spPr>
        <p:txBody>
          <a:bodyPr wrap="square" lIns="0" tIns="0" rIns="0" bIns="0" rtlCol="0" anchor="ctr"/>
          <a:lstStyle/>
          <a:p>
            <a:pPr algn="ctr" indent="0" marL="0">
              <a:buNone/>
            </a:pPr>
            <a:r>
              <a:rPr lang="en-US" sz="1100" b="1" dirty="0">
                <a:solidFill>
                  <a:srgbClr val="134E4A"/>
                </a:solidFill>
                <a:latin typeface="Calibri" pitchFamily="34" charset="0"/>
                <a:ea typeface="Calibri" pitchFamily="34" charset="-122"/>
                <a:cs typeface="Calibri" pitchFamily="34" charset="-120"/>
              </a:rPr>
              <a:t>Fast AND compatible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A202C"/>
                </a:solidFill>
                <a:latin typeface="Trebuchet MS" pitchFamily="34" charset="0"/>
                <a:ea typeface="Trebuchet MS" pitchFamily="34" charset="-122"/>
                <a:cs typeface="Trebuchet MS" pitchFamily="34" charset="-120"/>
              </a:rPr>
              <a:t>How Cursor Solves This</a:t>
            </a:r>
            <a:endParaRPr lang="en-US" sz="30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indent="0" marL="0">
              <a:buNone/>
            </a:pPr>
            <a:r>
              <a:rPr lang="en-US" sz="1400" dirty="0">
                <a:solidFill>
                  <a:srgbClr val="93A1A1"/>
                </a:solidFill>
                <a:latin typeface="Calibri" pitchFamily="34" charset="0"/>
                <a:ea typeface="Calibri" pitchFamily="34" charset="-122"/>
                <a:cs typeface="Calibri" pitchFamily="34" charset="-120"/>
              </a:rPr>
              <a:t>Three things generic AI doesn't have</a:t>
            </a:r>
            <a:endParaRPr lang="en-US" sz="1400" dirty="0"/>
          </a:p>
        </p:txBody>
      </p:sp>
      <p:sp>
        <p:nvSpPr>
          <p:cNvPr id="4" name="Shape 2"/>
          <p:cNvSpPr/>
          <p:nvPr/>
        </p:nvSpPr>
        <p:spPr>
          <a:xfrm>
            <a:off x="731520" y="1234440"/>
            <a:ext cx="2514600" cy="201168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731520" y="1234440"/>
            <a:ext cx="54864" cy="2011680"/>
          </a:xfrm>
          <a:prstGeom prst="rect">
            <a:avLst/>
          </a:prstGeom>
          <a:solidFill>
            <a:srgbClr val="268BD2"/>
          </a:solidFill>
          <a:ln/>
        </p:spPr>
      </p:sp>
      <p:pic>
        <p:nvPicPr>
          <p:cNvPr id="6" name="Image 0" descr="preencoded.png">    </p:cNvPr>
          <p:cNvPicPr>
            <a:picLocks noChangeAspect="1"/>
          </p:cNvPicPr>
          <p:nvPr/>
        </p:nvPicPr>
        <p:blipFill>
          <a:blip r:embed="rId1"/>
          <a:stretch>
            <a:fillRect/>
          </a:stretch>
        </p:blipFill>
        <p:spPr>
          <a:xfrm>
            <a:off x="914400" y="1371600"/>
            <a:ext cx="274320" cy="274320"/>
          </a:xfrm>
          <a:prstGeom prst="rect">
            <a:avLst/>
          </a:prstGeom>
        </p:spPr>
      </p:pic>
      <p:sp>
        <p:nvSpPr>
          <p:cNvPr id="7" name="Text 4"/>
          <p:cNvSpPr/>
          <p:nvPr/>
        </p:nvSpPr>
        <p:spPr>
          <a:xfrm>
            <a:off x="1280160" y="1353312"/>
            <a:ext cx="1783080" cy="320040"/>
          </a:xfrm>
          <a:prstGeom prst="rect">
            <a:avLst/>
          </a:prstGeom>
          <a:noFill/>
          <a:ln/>
        </p:spPr>
        <p:txBody>
          <a:bodyPr wrap="square" lIns="0" tIns="0" rIns="0" bIns="0" rtlCol="0" anchor="ctr"/>
          <a:lstStyle/>
          <a:p>
            <a:pPr indent="0" marL="0">
              <a:buNone/>
            </a:pPr>
            <a:r>
              <a:rPr lang="en-US" sz="1300" b="1" dirty="0">
                <a:solidFill>
                  <a:srgbClr val="1A202C"/>
                </a:solidFill>
                <a:latin typeface="Trebuchet MS" pitchFamily="34" charset="0"/>
                <a:ea typeface="Trebuchet MS" pitchFamily="34" charset="-122"/>
                <a:cs typeface="Trebuchet MS" pitchFamily="34" charset="-120"/>
              </a:rPr>
              <a:t>1. Codebase Awareness</a:t>
            </a:r>
            <a:endParaRPr lang="en-US" sz="1300" dirty="0"/>
          </a:p>
        </p:txBody>
      </p:sp>
      <p:sp>
        <p:nvSpPr>
          <p:cNvPr id="8" name="Text 5"/>
          <p:cNvSpPr/>
          <p:nvPr/>
        </p:nvSpPr>
        <p:spPr>
          <a:xfrm>
            <a:off x="914400" y="1737360"/>
            <a:ext cx="2148840" cy="137160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Cursor indexes your entire project — framework, components, folder structure, patterns. When it generates code, it follows your conventions, not generic ones.</a:t>
            </a:r>
            <a:endParaRPr lang="en-US" sz="1050" dirty="0"/>
          </a:p>
        </p:txBody>
      </p:sp>
      <p:sp>
        <p:nvSpPr>
          <p:cNvPr id="9" name="Shape 6"/>
          <p:cNvSpPr/>
          <p:nvPr/>
        </p:nvSpPr>
        <p:spPr>
          <a:xfrm>
            <a:off x="3474720" y="1234440"/>
            <a:ext cx="2514600" cy="201168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0" name="Shape 7"/>
          <p:cNvSpPr/>
          <p:nvPr/>
        </p:nvSpPr>
        <p:spPr>
          <a:xfrm>
            <a:off x="3474720" y="1234440"/>
            <a:ext cx="54864" cy="2011680"/>
          </a:xfrm>
          <a:prstGeom prst="rect">
            <a:avLst/>
          </a:prstGeom>
          <a:solidFill>
            <a:srgbClr val="6C71C4"/>
          </a:solidFill>
          <a:ln/>
        </p:spPr>
      </p:sp>
      <p:pic>
        <p:nvPicPr>
          <p:cNvPr id="11" name="Image 1" descr="preencoded.png">    </p:cNvPr>
          <p:cNvPicPr>
            <a:picLocks noChangeAspect="1"/>
          </p:cNvPicPr>
          <p:nvPr/>
        </p:nvPicPr>
        <p:blipFill>
          <a:blip r:embed="rId2"/>
          <a:stretch>
            <a:fillRect/>
          </a:stretch>
        </p:blipFill>
        <p:spPr>
          <a:xfrm>
            <a:off x="3657600" y="1371600"/>
            <a:ext cx="274320" cy="274320"/>
          </a:xfrm>
          <a:prstGeom prst="rect">
            <a:avLst/>
          </a:prstGeom>
        </p:spPr>
      </p:pic>
      <p:sp>
        <p:nvSpPr>
          <p:cNvPr id="12" name="Text 8"/>
          <p:cNvSpPr/>
          <p:nvPr/>
        </p:nvSpPr>
        <p:spPr>
          <a:xfrm>
            <a:off x="4023360" y="1353312"/>
            <a:ext cx="1783080" cy="320040"/>
          </a:xfrm>
          <a:prstGeom prst="rect">
            <a:avLst/>
          </a:prstGeom>
          <a:noFill/>
          <a:ln/>
        </p:spPr>
        <p:txBody>
          <a:bodyPr wrap="square" lIns="0" tIns="0" rIns="0" bIns="0" rtlCol="0" anchor="ctr"/>
          <a:lstStyle/>
          <a:p>
            <a:pPr indent="0" marL="0">
              <a:buNone/>
            </a:pPr>
            <a:r>
              <a:rPr lang="en-US" sz="1300" b="1" dirty="0">
                <a:solidFill>
                  <a:srgbClr val="1A202C"/>
                </a:solidFill>
                <a:latin typeface="Trebuchet MS" pitchFamily="34" charset="0"/>
                <a:ea typeface="Trebuchet MS" pitchFamily="34" charset="-122"/>
                <a:cs typeface="Trebuchet MS" pitchFamily="34" charset="-120"/>
              </a:rPr>
              <a:t>2. Figma MCP Connection</a:t>
            </a:r>
            <a:endParaRPr lang="en-US" sz="1300" dirty="0"/>
          </a:p>
        </p:txBody>
      </p:sp>
      <p:sp>
        <p:nvSpPr>
          <p:cNvPr id="13" name="Text 9"/>
          <p:cNvSpPr/>
          <p:nvPr/>
        </p:nvSpPr>
        <p:spPr>
          <a:xfrm>
            <a:off x="3657600" y="1737360"/>
            <a:ext cx="2148840" cy="137160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The Figma MCP reads design metadata — not just pixels. It understands layers, component names, spacing, and variables. The design carries intent, not just appearance.</a:t>
            </a:r>
            <a:endParaRPr lang="en-US" sz="1050" dirty="0"/>
          </a:p>
        </p:txBody>
      </p:sp>
      <p:sp>
        <p:nvSpPr>
          <p:cNvPr id="14" name="Shape 10"/>
          <p:cNvSpPr/>
          <p:nvPr/>
        </p:nvSpPr>
        <p:spPr>
          <a:xfrm>
            <a:off x="6217920" y="1234440"/>
            <a:ext cx="2514600" cy="201168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5" name="Shape 11"/>
          <p:cNvSpPr/>
          <p:nvPr/>
        </p:nvSpPr>
        <p:spPr>
          <a:xfrm>
            <a:off x="6217920" y="1234440"/>
            <a:ext cx="54864" cy="2011680"/>
          </a:xfrm>
          <a:prstGeom prst="rect">
            <a:avLst/>
          </a:prstGeom>
          <a:solidFill>
            <a:srgbClr val="2AA198"/>
          </a:solidFill>
          <a:ln/>
        </p:spPr>
      </p:sp>
      <p:pic>
        <p:nvPicPr>
          <p:cNvPr id="16" name="Image 2" descr="preencoded.png">    </p:cNvPr>
          <p:cNvPicPr>
            <a:picLocks noChangeAspect="1"/>
          </p:cNvPicPr>
          <p:nvPr/>
        </p:nvPicPr>
        <p:blipFill>
          <a:blip r:embed="rId3"/>
          <a:stretch>
            <a:fillRect/>
          </a:stretch>
        </p:blipFill>
        <p:spPr>
          <a:xfrm>
            <a:off x="6400800" y="1371600"/>
            <a:ext cx="274320" cy="274320"/>
          </a:xfrm>
          <a:prstGeom prst="rect">
            <a:avLst/>
          </a:prstGeom>
        </p:spPr>
      </p:pic>
      <p:sp>
        <p:nvSpPr>
          <p:cNvPr id="17" name="Text 12"/>
          <p:cNvSpPr/>
          <p:nvPr/>
        </p:nvSpPr>
        <p:spPr>
          <a:xfrm>
            <a:off x="6766560" y="1353312"/>
            <a:ext cx="1783080" cy="320040"/>
          </a:xfrm>
          <a:prstGeom prst="rect">
            <a:avLst/>
          </a:prstGeom>
          <a:noFill/>
          <a:ln/>
        </p:spPr>
        <p:txBody>
          <a:bodyPr wrap="square" lIns="0" tIns="0" rIns="0" bIns="0" rtlCol="0" anchor="ctr"/>
          <a:lstStyle/>
          <a:p>
            <a:pPr indent="0" marL="0">
              <a:buNone/>
            </a:pPr>
            <a:r>
              <a:rPr lang="en-US" sz="1300" b="1" dirty="0">
                <a:solidFill>
                  <a:srgbClr val="1A202C"/>
                </a:solidFill>
                <a:latin typeface="Trebuchet MS" pitchFamily="34" charset="0"/>
                <a:ea typeface="Trebuchet MS" pitchFamily="34" charset="-122"/>
                <a:cs typeface="Trebuchet MS" pitchFamily="34" charset="-120"/>
              </a:rPr>
              <a:t>3. Design System Compliance</a:t>
            </a:r>
            <a:endParaRPr lang="en-US" sz="1300" dirty="0"/>
          </a:p>
        </p:txBody>
      </p:sp>
      <p:sp>
        <p:nvSpPr>
          <p:cNvPr id="18" name="Text 13"/>
          <p:cNvSpPr/>
          <p:nvPr/>
        </p:nvSpPr>
        <p:spPr>
          <a:xfrm>
            <a:off x="6400800" y="1737360"/>
            <a:ext cx="2148840" cy="137160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Because Cursor sees both the Figma design AND the code, it maps Figma components to their code equivalents. Zen button in Figma → Zen button in code. Not custom CSS.</a:t>
            </a:r>
            <a:endParaRPr lang="en-US" sz="1050" dirty="0"/>
          </a:p>
        </p:txBody>
      </p:sp>
      <p:sp>
        <p:nvSpPr>
          <p:cNvPr id="19" name="Shape 14"/>
          <p:cNvSpPr/>
          <p:nvPr/>
        </p:nvSpPr>
        <p:spPr>
          <a:xfrm>
            <a:off x="731520" y="3429000"/>
            <a:ext cx="7680960" cy="1234440"/>
          </a:xfrm>
          <a:prstGeom prst="rect">
            <a:avLst/>
          </a:prstGeom>
          <a:solidFill>
            <a:srgbClr val="F5F3FF"/>
          </a:solidFill>
          <a:ln w="12700">
            <a:solidFill>
              <a:srgbClr val="DDD6FE"/>
            </a:solidFill>
            <a:prstDash val="solid"/>
          </a:ln>
        </p:spPr>
      </p:sp>
      <p:pic>
        <p:nvPicPr>
          <p:cNvPr id="20" name="Image 3" descr="preencoded.png">    </p:cNvPr>
          <p:cNvPicPr>
            <a:picLocks noChangeAspect="1"/>
          </p:cNvPicPr>
          <p:nvPr/>
        </p:nvPicPr>
        <p:blipFill>
          <a:blip r:embed="rId4"/>
          <a:stretch>
            <a:fillRect/>
          </a:stretch>
        </p:blipFill>
        <p:spPr>
          <a:xfrm>
            <a:off x="868680" y="3566160"/>
            <a:ext cx="228600" cy="228600"/>
          </a:xfrm>
          <a:prstGeom prst="rect">
            <a:avLst/>
          </a:prstGeom>
        </p:spPr>
      </p:pic>
      <p:sp>
        <p:nvSpPr>
          <p:cNvPr id="21" name="Text 15"/>
          <p:cNvSpPr/>
          <p:nvPr/>
        </p:nvSpPr>
        <p:spPr>
          <a:xfrm>
            <a:off x="1188720" y="3520440"/>
            <a:ext cx="6949440" cy="777240"/>
          </a:xfrm>
          <a:prstGeom prst="rect">
            <a:avLst/>
          </a:prstGeom>
          <a:noFill/>
          <a:ln/>
        </p:spPr>
        <p:txBody>
          <a:bodyPr wrap="square" lIns="0" tIns="0" rIns="0" bIns="0" rtlCol="0" anchor="ctr"/>
          <a:lstStyle/>
          <a:p>
            <a:pPr indent="0" marL="0">
              <a:lnSpc>
                <a:spcPct val="140000"/>
              </a:lnSpc>
              <a:buNone/>
            </a:pPr>
            <a:r>
              <a:rPr lang="en-US" sz="1050" i="1" dirty="0">
                <a:solidFill>
                  <a:srgbClr val="4A5568"/>
                </a:solidFill>
                <a:latin typeface="Calibri" pitchFamily="34" charset="0"/>
                <a:ea typeface="Calibri" pitchFamily="34" charset="-122"/>
                <a:cs typeface="Calibri" pitchFamily="34" charset="-120"/>
              </a:rPr>
              <a:t>"You can specify cursor rules which make sure it adheres to your design system. You can point at specific libraries within your internal GitHub to make sure it always downloads those components. But it's that configuration part that doesn't come pre-packaged — that's hard to convince designers to do..."</a:t>
            </a:r>
            <a:endParaRPr lang="en-US" sz="1050" dirty="0"/>
          </a:p>
        </p:txBody>
      </p:sp>
      <p:sp>
        <p:nvSpPr>
          <p:cNvPr id="22" name="Text 16"/>
          <p:cNvSpPr/>
          <p:nvPr/>
        </p:nvSpPr>
        <p:spPr>
          <a:xfrm>
            <a:off x="1188720" y="4297680"/>
            <a:ext cx="3657600" cy="228600"/>
          </a:xfrm>
          <a:prstGeom prst="rect">
            <a:avLst/>
          </a:prstGeom>
          <a:noFill/>
          <a:ln/>
        </p:spPr>
        <p:txBody>
          <a:bodyPr wrap="square" lIns="0" tIns="0" rIns="0" bIns="0" rtlCol="0" anchor="ctr"/>
          <a:lstStyle/>
          <a:p>
            <a:pPr indent="0" marL="0">
              <a:buNone/>
            </a:pPr>
            <a:r>
              <a:rPr lang="en-US" sz="1000" b="1" dirty="0">
                <a:solidFill>
                  <a:srgbClr val="6C71C4"/>
                </a:solidFill>
                <a:latin typeface="Calibri" pitchFamily="34" charset="0"/>
                <a:ea typeface="Calibri" pitchFamily="34" charset="-122"/>
                <a:cs typeface="Calibri" pitchFamily="34" charset="-120"/>
              </a:rPr>
              <a:t>— Intuit, Enterprise Design Org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000" b="1" dirty="0">
                <a:solidFill>
                  <a:srgbClr val="1A202C"/>
                </a:solidFill>
                <a:latin typeface="Trebuchet MS" pitchFamily="34" charset="0"/>
                <a:ea typeface="Trebuchet MS" pitchFamily="34" charset="-122"/>
                <a:cs typeface="Trebuchet MS" pitchFamily="34" charset="-120"/>
              </a:rPr>
              <a:t>Discovery Questions to Ask</a:t>
            </a:r>
            <a:endParaRPr lang="en-US" sz="30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indent="0" marL="0">
              <a:buNone/>
            </a:pPr>
            <a:r>
              <a:rPr lang="en-US" sz="1400" dirty="0">
                <a:solidFill>
                  <a:srgbClr val="93A1A1"/>
                </a:solidFill>
                <a:latin typeface="Calibri" pitchFamily="34" charset="0"/>
                <a:ea typeface="Calibri" pitchFamily="34" charset="-122"/>
                <a:cs typeface="Calibri" pitchFamily="34" charset="-120"/>
              </a:rPr>
              <a:t>Use these in every conversation where design-to-code comes up</a:t>
            </a:r>
            <a:endParaRPr lang="en-US" sz="1400" dirty="0"/>
          </a:p>
        </p:txBody>
      </p:sp>
      <p:sp>
        <p:nvSpPr>
          <p:cNvPr id="4" name="Shape 2"/>
          <p:cNvSpPr/>
          <p:nvPr/>
        </p:nvSpPr>
        <p:spPr>
          <a:xfrm>
            <a:off x="731520" y="1280160"/>
            <a:ext cx="3703320" cy="356616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731520" y="1280160"/>
            <a:ext cx="3703320" cy="54864"/>
          </a:xfrm>
          <a:prstGeom prst="rect">
            <a:avLst/>
          </a:prstGeom>
          <a:solidFill>
            <a:srgbClr val="268BD2"/>
          </a:solidFill>
          <a:ln/>
        </p:spPr>
      </p:sp>
      <p:pic>
        <p:nvPicPr>
          <p:cNvPr id="6" name="Image 0" descr="preencoded.png">    </p:cNvPr>
          <p:cNvPicPr>
            <a:picLocks noChangeAspect="1"/>
          </p:cNvPicPr>
          <p:nvPr/>
        </p:nvPicPr>
        <p:blipFill>
          <a:blip r:embed="rId1"/>
          <a:stretch>
            <a:fillRect/>
          </a:stretch>
        </p:blipFill>
        <p:spPr>
          <a:xfrm>
            <a:off x="914400" y="1463040"/>
            <a:ext cx="228600" cy="228600"/>
          </a:xfrm>
          <a:prstGeom prst="rect">
            <a:avLst/>
          </a:prstGeom>
        </p:spPr>
      </p:pic>
      <p:sp>
        <p:nvSpPr>
          <p:cNvPr id="7" name="Text 4"/>
          <p:cNvSpPr/>
          <p:nvPr/>
        </p:nvSpPr>
        <p:spPr>
          <a:xfrm>
            <a:off x="1234440" y="1444752"/>
            <a:ext cx="3017520" cy="274320"/>
          </a:xfrm>
          <a:prstGeom prst="rect">
            <a:avLst/>
          </a:prstGeom>
          <a:noFill/>
          <a:ln/>
        </p:spPr>
        <p:txBody>
          <a:bodyPr wrap="square" lIns="0" tIns="0" rIns="0" bIns="0" rtlCol="0" anchor="ctr"/>
          <a:lstStyle/>
          <a:p>
            <a:pPr indent="0" marL="0">
              <a:buNone/>
            </a:pPr>
            <a:r>
              <a:rPr lang="en-US" sz="1500" b="1" dirty="0">
                <a:solidFill>
                  <a:srgbClr val="1A202C"/>
                </a:solidFill>
                <a:latin typeface="Trebuchet MS" pitchFamily="34" charset="0"/>
                <a:ea typeface="Trebuchet MS" pitchFamily="34" charset="-122"/>
                <a:cs typeface="Trebuchet MS" pitchFamily="34" charset="-120"/>
              </a:rPr>
              <a:t>Understanding Their Stack</a:t>
            </a:r>
            <a:endParaRPr lang="en-US" sz="1500" dirty="0"/>
          </a:p>
        </p:txBody>
      </p:sp>
      <p:sp>
        <p:nvSpPr>
          <p:cNvPr id="8" name="Text 5"/>
          <p:cNvSpPr/>
          <p:nvPr/>
        </p:nvSpPr>
        <p:spPr>
          <a:xfrm>
            <a:off x="914400" y="1874520"/>
            <a:ext cx="3337560" cy="2743200"/>
          </a:xfrm>
          <a:prstGeom prst="rect">
            <a:avLst/>
          </a:prstGeom>
          <a:noFill/>
          <a:ln/>
        </p:spPr>
        <p:txBody>
          <a:bodyPr wrap="square" lIns="0" tIns="0" rIns="0" bIns="0" rtlCol="0" anchor="ctr"/>
          <a:lstStyle/>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Do you have a design system or component library?</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How do you turn designs into production code today?</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How do you make sure the UI stays aligned to the design system?</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What design tools does your team use? (Figma, Adobe XD, Sketch?)</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What frontend framework are you on? (React, Vue, Angular, etc.)</a:t>
            </a:r>
            <a:endParaRPr lang="en-US" sz="1050" dirty="0"/>
          </a:p>
        </p:txBody>
      </p:sp>
      <p:sp>
        <p:nvSpPr>
          <p:cNvPr id="9" name="Shape 6"/>
          <p:cNvSpPr/>
          <p:nvPr/>
        </p:nvSpPr>
        <p:spPr>
          <a:xfrm>
            <a:off x="4709160" y="1280160"/>
            <a:ext cx="3703320" cy="356616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0" name="Shape 7"/>
          <p:cNvSpPr/>
          <p:nvPr/>
        </p:nvSpPr>
        <p:spPr>
          <a:xfrm>
            <a:off x="4709160" y="1280160"/>
            <a:ext cx="3703320" cy="54864"/>
          </a:xfrm>
          <a:prstGeom prst="rect">
            <a:avLst/>
          </a:prstGeom>
          <a:solidFill>
            <a:srgbClr val="DC322F"/>
          </a:solidFill>
          <a:ln/>
        </p:spPr>
      </p:sp>
      <p:pic>
        <p:nvPicPr>
          <p:cNvPr id="11" name="Image 1" descr="preencoded.png">    </p:cNvPr>
          <p:cNvPicPr>
            <a:picLocks noChangeAspect="1"/>
          </p:cNvPicPr>
          <p:nvPr/>
        </p:nvPicPr>
        <p:blipFill>
          <a:blip r:embed="rId2"/>
          <a:stretch>
            <a:fillRect/>
          </a:stretch>
        </p:blipFill>
        <p:spPr>
          <a:xfrm>
            <a:off x="4892040" y="1463040"/>
            <a:ext cx="228600" cy="228600"/>
          </a:xfrm>
          <a:prstGeom prst="rect">
            <a:avLst/>
          </a:prstGeom>
        </p:spPr>
      </p:pic>
      <p:sp>
        <p:nvSpPr>
          <p:cNvPr id="12" name="Text 8"/>
          <p:cNvSpPr/>
          <p:nvPr/>
        </p:nvSpPr>
        <p:spPr>
          <a:xfrm>
            <a:off x="5212080" y="1444752"/>
            <a:ext cx="3017520" cy="274320"/>
          </a:xfrm>
          <a:prstGeom prst="rect">
            <a:avLst/>
          </a:prstGeom>
          <a:noFill/>
          <a:ln/>
        </p:spPr>
        <p:txBody>
          <a:bodyPr wrap="square" lIns="0" tIns="0" rIns="0" bIns="0" rtlCol="0" anchor="ctr"/>
          <a:lstStyle/>
          <a:p>
            <a:pPr indent="0" marL="0">
              <a:buNone/>
            </a:pPr>
            <a:r>
              <a:rPr lang="en-US" sz="1500" b="1" dirty="0">
                <a:solidFill>
                  <a:srgbClr val="1A202C"/>
                </a:solidFill>
                <a:latin typeface="Trebuchet MS" pitchFamily="34" charset="0"/>
                <a:ea typeface="Trebuchet MS" pitchFamily="34" charset="-122"/>
                <a:cs typeface="Trebuchet MS" pitchFamily="34" charset="-120"/>
              </a:rPr>
              <a:t>Understanding Their Pain</a:t>
            </a:r>
            <a:endParaRPr lang="en-US" sz="1500" dirty="0"/>
          </a:p>
        </p:txBody>
      </p:sp>
      <p:sp>
        <p:nvSpPr>
          <p:cNvPr id="13" name="Text 9"/>
          <p:cNvSpPr/>
          <p:nvPr/>
        </p:nvSpPr>
        <p:spPr>
          <a:xfrm>
            <a:off x="4892040" y="1874520"/>
            <a:ext cx="3337560" cy="2743200"/>
          </a:xfrm>
          <a:prstGeom prst="rect">
            <a:avLst/>
          </a:prstGeom>
          <a:noFill/>
          <a:ln/>
        </p:spPr>
        <p:txBody>
          <a:bodyPr wrap="square" lIns="0" tIns="0" rIns="0" bIns="0" rtlCol="0" anchor="ctr"/>
          <a:lstStyle/>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How does the design-to-code handoff work today?</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How much rework happens after handoff?</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Have any designers tried using AI to generate code?</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Was the output design system compliant?</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How many rounds of back-and-forth before a feature ships?</a:t>
            </a:r>
            <a:endParaRPr lang="en-US" sz="1050" dirty="0"/>
          </a:p>
          <a:p>
            <a:pPr marL="342900" indent="-342900">
              <a:lnSpc>
                <a:spcPct val="135000"/>
              </a:lnSpc>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Do your designers push PRs today?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Story to Tell</a:t>
            </a:r>
            <a:endParaRPr lang="en-US" sz="3200" dirty="0"/>
          </a:p>
        </p:txBody>
      </p:sp>
      <p:sp>
        <p:nvSpPr>
          <p:cNvPr id="3" name="Shape 1"/>
          <p:cNvSpPr/>
          <p:nvPr/>
        </p:nvSpPr>
        <p:spPr>
          <a:xfrm>
            <a:off x="731520" y="1188720"/>
            <a:ext cx="2514600" cy="2606040"/>
          </a:xfrm>
          <a:prstGeom prst="rect">
            <a:avLst/>
          </a:prstGeom>
          <a:solidFill>
            <a:srgbClr val="1E293B"/>
          </a:solidFill>
          <a:ln w="12700">
            <a:solidFill>
              <a:srgbClr val="334155"/>
            </a:solidFill>
            <a:prstDash val="solid"/>
          </a:ln>
          <a:effectLst>
            <a:outerShdw sx="100000" sy="100000" kx="0" ky="0" algn="bl" rotWithShape="0" blurRad="101600" dist="25400" dir="8100000">
              <a:srgbClr val="000000">
                <a:alpha val="8000"/>
              </a:srgbClr>
            </a:outerShdw>
          </a:effectLst>
        </p:spPr>
      </p:sp>
      <p:sp>
        <p:nvSpPr>
          <p:cNvPr id="4" name="Shape 2"/>
          <p:cNvSpPr/>
          <p:nvPr/>
        </p:nvSpPr>
        <p:spPr>
          <a:xfrm>
            <a:off x="731520" y="1188720"/>
            <a:ext cx="2514600" cy="54864"/>
          </a:xfrm>
          <a:prstGeom prst="rect">
            <a:avLst/>
          </a:prstGeom>
          <a:solidFill>
            <a:srgbClr val="DC322F"/>
          </a:solidFill>
          <a:ln/>
        </p:spPr>
      </p:sp>
      <p:sp>
        <p:nvSpPr>
          <p:cNvPr id="5" name="Shape 3"/>
          <p:cNvSpPr/>
          <p:nvPr/>
        </p:nvSpPr>
        <p:spPr>
          <a:xfrm>
            <a:off x="914400" y="1371600"/>
            <a:ext cx="365760" cy="365760"/>
          </a:xfrm>
          <a:prstGeom prst="ellipse">
            <a:avLst/>
          </a:prstGeom>
          <a:solidFill>
            <a:srgbClr val="DC322F"/>
          </a:solidFill>
          <a:ln/>
        </p:spPr>
      </p:sp>
      <p:sp>
        <p:nvSpPr>
          <p:cNvPr id="6" name="Text 4"/>
          <p:cNvSpPr/>
          <p:nvPr/>
        </p:nvSpPr>
        <p:spPr>
          <a:xfrm>
            <a:off x="914400" y="1371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7" name="Text 5"/>
          <p:cNvSpPr/>
          <p:nvPr/>
        </p:nvSpPr>
        <p:spPr>
          <a:xfrm>
            <a:off x="914400" y="1874520"/>
            <a:ext cx="2148840" cy="5029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"Looks right" ≠ works right</a:t>
            </a:r>
            <a:endParaRPr lang="en-US" sz="1400" dirty="0"/>
          </a:p>
        </p:txBody>
      </p:sp>
      <p:sp>
        <p:nvSpPr>
          <p:cNvPr id="8" name="Text 6"/>
          <p:cNvSpPr/>
          <p:nvPr/>
        </p:nvSpPr>
        <p:spPr>
          <a:xfrm>
            <a:off x="914400" y="2377440"/>
            <a:ext cx="2148840" cy="123444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AI can generate beautiful UI from a screenshot. But if the code doesn't match your framework and design system, it's an instruction manual in the wrong language.</a:t>
            </a:r>
            <a:endParaRPr lang="en-US" sz="1050" dirty="0"/>
          </a:p>
        </p:txBody>
      </p:sp>
      <p:sp>
        <p:nvSpPr>
          <p:cNvPr id="9" name="Shape 7"/>
          <p:cNvSpPr/>
          <p:nvPr/>
        </p:nvSpPr>
        <p:spPr>
          <a:xfrm>
            <a:off x="3474720" y="1188720"/>
            <a:ext cx="2514600" cy="2606040"/>
          </a:xfrm>
          <a:prstGeom prst="rect">
            <a:avLst/>
          </a:prstGeom>
          <a:solidFill>
            <a:srgbClr val="1E293B"/>
          </a:solidFill>
          <a:ln w="12700">
            <a:solidFill>
              <a:srgbClr val="334155"/>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3474720" y="1188720"/>
            <a:ext cx="2514600" cy="54864"/>
          </a:xfrm>
          <a:prstGeom prst="rect">
            <a:avLst/>
          </a:prstGeom>
          <a:solidFill>
            <a:srgbClr val="268BD2"/>
          </a:solidFill>
          <a:ln/>
        </p:spPr>
      </p:sp>
      <p:sp>
        <p:nvSpPr>
          <p:cNvPr id="11" name="Shape 9"/>
          <p:cNvSpPr/>
          <p:nvPr/>
        </p:nvSpPr>
        <p:spPr>
          <a:xfrm>
            <a:off x="3657600" y="1371600"/>
            <a:ext cx="365760" cy="365760"/>
          </a:xfrm>
          <a:prstGeom prst="ellipse">
            <a:avLst/>
          </a:prstGeom>
          <a:solidFill>
            <a:srgbClr val="268BD2"/>
          </a:solidFill>
          <a:ln/>
        </p:spPr>
      </p:sp>
      <p:sp>
        <p:nvSpPr>
          <p:cNvPr id="12" name="Text 10"/>
          <p:cNvSpPr/>
          <p:nvPr/>
        </p:nvSpPr>
        <p:spPr>
          <a:xfrm>
            <a:off x="3657600" y="1371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Text 11"/>
          <p:cNvSpPr/>
          <p:nvPr/>
        </p:nvSpPr>
        <p:spPr>
          <a:xfrm>
            <a:off x="3657600" y="1874520"/>
            <a:ext cx="2148840" cy="5029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Cursor converts your design system to code</a:t>
            </a:r>
            <a:endParaRPr lang="en-US" sz="1400" dirty="0"/>
          </a:p>
        </p:txBody>
      </p:sp>
      <p:sp>
        <p:nvSpPr>
          <p:cNvPr id="14" name="Text 12"/>
          <p:cNvSpPr/>
          <p:nvPr/>
        </p:nvSpPr>
        <p:spPr>
          <a:xfrm>
            <a:off x="3657600" y="2377440"/>
            <a:ext cx="2148840" cy="123444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Figma MCP + codebase awareness means the generated code uses the right framework, the right components, the right patterns. It's not a prototype — it's a PR.</a:t>
            </a:r>
            <a:endParaRPr lang="en-US" sz="1050" dirty="0"/>
          </a:p>
        </p:txBody>
      </p:sp>
      <p:sp>
        <p:nvSpPr>
          <p:cNvPr id="15" name="Shape 13"/>
          <p:cNvSpPr/>
          <p:nvPr/>
        </p:nvSpPr>
        <p:spPr>
          <a:xfrm>
            <a:off x="6217920" y="1188720"/>
            <a:ext cx="2514600" cy="2606040"/>
          </a:xfrm>
          <a:prstGeom prst="rect">
            <a:avLst/>
          </a:prstGeom>
          <a:solidFill>
            <a:srgbClr val="1E293B"/>
          </a:solidFill>
          <a:ln w="12700">
            <a:solidFill>
              <a:srgbClr val="334155"/>
            </a:solidFill>
            <a:prstDash val="solid"/>
          </a:ln>
          <a:effectLst>
            <a:outerShdw sx="100000" sy="100000" kx="0" ky="0" algn="bl" rotWithShape="0" blurRad="101600" dist="25400" dir="8100000">
              <a:srgbClr val="000000">
                <a:alpha val="8000"/>
              </a:srgbClr>
            </a:outerShdw>
          </a:effectLst>
        </p:spPr>
      </p:sp>
      <p:sp>
        <p:nvSpPr>
          <p:cNvPr id="16" name="Shape 14"/>
          <p:cNvSpPr/>
          <p:nvPr/>
        </p:nvSpPr>
        <p:spPr>
          <a:xfrm>
            <a:off x="6217920" y="1188720"/>
            <a:ext cx="2514600" cy="54864"/>
          </a:xfrm>
          <a:prstGeom prst="rect">
            <a:avLst/>
          </a:prstGeom>
          <a:solidFill>
            <a:srgbClr val="2AA198"/>
          </a:solidFill>
          <a:ln/>
        </p:spPr>
      </p:sp>
      <p:sp>
        <p:nvSpPr>
          <p:cNvPr id="17" name="Shape 15"/>
          <p:cNvSpPr/>
          <p:nvPr/>
        </p:nvSpPr>
        <p:spPr>
          <a:xfrm>
            <a:off x="6400800" y="1371600"/>
            <a:ext cx="365760" cy="365760"/>
          </a:xfrm>
          <a:prstGeom prst="ellipse">
            <a:avLst/>
          </a:prstGeom>
          <a:solidFill>
            <a:srgbClr val="2AA198"/>
          </a:solidFill>
          <a:ln/>
        </p:spPr>
      </p:sp>
      <p:sp>
        <p:nvSpPr>
          <p:cNvPr id="18" name="Text 16"/>
          <p:cNvSpPr/>
          <p:nvPr/>
        </p:nvSpPr>
        <p:spPr>
          <a:xfrm>
            <a:off x="6400800" y="13716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9" name="Text 17"/>
          <p:cNvSpPr/>
          <p:nvPr/>
        </p:nvSpPr>
        <p:spPr>
          <a:xfrm>
            <a:off x="6400800" y="1874520"/>
            <a:ext cx="2148840" cy="5029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Parallel, not sequential</a:t>
            </a:r>
            <a:endParaRPr lang="en-US" sz="1400" dirty="0"/>
          </a:p>
        </p:txBody>
      </p:sp>
      <p:sp>
        <p:nvSpPr>
          <p:cNvPr id="20" name="Text 18"/>
          <p:cNvSpPr/>
          <p:nvPr/>
        </p:nvSpPr>
        <p:spPr>
          <a:xfrm>
            <a:off x="6400800" y="2377440"/>
            <a:ext cx="2148840" cy="1234440"/>
          </a:xfrm>
          <a:prstGeom prst="rect">
            <a:avLst/>
          </a:prstGeom>
          <a:noFill/>
          <a:ln/>
        </p:spPr>
        <p:txBody>
          <a:bodyPr wrap="square" lIns="0" tIns="0" rIns="0" bIns="0" rtlCol="0" anchor="ctr"/>
          <a:lstStyle/>
          <a:p>
            <a:pPr indent="0" marL="0">
              <a:lnSpc>
                <a:spcPct val="140000"/>
              </a:lnSpc>
              <a:buNone/>
            </a:pPr>
            <a:r>
              <a:rPr lang="en-US" sz="1050" dirty="0">
                <a:solidFill>
                  <a:srgbClr val="93A1A1"/>
                </a:solidFill>
                <a:latin typeface="Calibri" pitchFamily="34" charset="0"/>
                <a:ea typeface="Calibri" pitchFamily="34" charset="-122"/>
                <a:cs typeface="Calibri" pitchFamily="34" charset="-120"/>
              </a:rPr>
              <a:t>Designers push UI code. Engineers fork it and connect data. They merge. The handoff gap disappears. What took weeks takes days.</a:t>
            </a:r>
            <a:endParaRPr lang="en-US" sz="1050" dirty="0"/>
          </a:p>
        </p:txBody>
      </p:sp>
      <p:sp>
        <p:nvSpPr>
          <p:cNvPr id="21" name="Shape 19"/>
          <p:cNvSpPr/>
          <p:nvPr/>
        </p:nvSpPr>
        <p:spPr>
          <a:xfrm>
            <a:off x="731520" y="4023360"/>
            <a:ext cx="7680960" cy="868680"/>
          </a:xfrm>
          <a:prstGeom prst="rect">
            <a:avLst/>
          </a:prstGeom>
          <a:solidFill>
            <a:srgbClr val="1E293B"/>
          </a:solidFill>
          <a:ln w="25400">
            <a:solidFill>
              <a:srgbClr val="268BD2"/>
            </a:solidFill>
            <a:prstDash val="solid"/>
          </a:ln>
        </p:spPr>
      </p:sp>
      <p:sp>
        <p:nvSpPr>
          <p:cNvPr id="22" name="Text 20"/>
          <p:cNvSpPr/>
          <p:nvPr/>
        </p:nvSpPr>
        <p:spPr>
          <a:xfrm>
            <a:off x="914400" y="4114800"/>
            <a:ext cx="7315200" cy="685800"/>
          </a:xfrm>
          <a:prstGeom prst="rect">
            <a:avLst/>
          </a:prstGeom>
          <a:noFill/>
          <a:ln/>
        </p:spPr>
        <p:txBody>
          <a:bodyPr wrap="square" lIns="0" tIns="0" rIns="0" bIns="0" rtlCol="0" anchor="ctr"/>
          <a:lstStyle/>
          <a:p>
            <a:pPr indent="0" marL="0">
              <a:lnSpc>
                <a:spcPct val="140000"/>
              </a:lnSpc>
              <a:buNone/>
            </a:pPr>
            <a:r>
              <a:rPr lang="en-US" sz="1400" b="1" dirty="0">
                <a:solidFill>
                  <a:srgbClr val="2AA198"/>
                </a:solidFill>
                <a:latin typeface="Calibri" pitchFamily="34" charset="0"/>
                <a:ea typeface="Calibri" pitchFamily="34" charset="-122"/>
                <a:cs typeface="Calibri" pitchFamily="34" charset="-120"/>
              </a:rPr>
              <a:t>The one-liner: </a:t>
            </a:r>
            <a:pPr indent="0" marL="0">
              <a:lnSpc>
                <a:spcPct val="140000"/>
              </a:lnSpc>
              <a:buNone/>
            </a:pPr>
            <a:r>
              <a:rPr lang="en-US" sz="1400" i="1" dirty="0">
                <a:solidFill>
                  <a:srgbClr val="FFFFFF"/>
                </a:solidFill>
                <a:latin typeface="Calibri" pitchFamily="34" charset="0"/>
                <a:ea typeface="Calibri" pitchFamily="34" charset="-122"/>
                <a:cs typeface="Calibri" pitchFamily="34" charset="-120"/>
              </a:rPr>
              <a:t>"Cursor doesn't just generate code from designs — it generates code that actually fits into your codebase."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
            <a:ext cx="7680960" cy="502920"/>
          </a:xfrm>
          <a:prstGeom prst="rect">
            <a:avLst/>
          </a:prstGeom>
          <a:noFill/>
          <a:ln/>
        </p:spPr>
        <p:txBody>
          <a:bodyPr wrap="square" lIns="0" tIns="0" rIns="0" bIns="0" rtlCol="0" anchor="ctr"/>
          <a:lstStyle/>
          <a:p>
            <a:pPr indent="0" marL="0">
              <a:buNone/>
            </a:pPr>
            <a:r>
              <a:rPr lang="en-US" sz="2800" b="1" dirty="0">
                <a:solidFill>
                  <a:srgbClr val="1A202C"/>
                </a:solidFill>
                <a:latin typeface="Trebuchet MS" pitchFamily="34" charset="0"/>
                <a:ea typeface="Trebuchet MS" pitchFamily="34" charset="-122"/>
                <a:cs typeface="Trebuchet MS" pitchFamily="34" charset="-120"/>
              </a:rPr>
              <a:t>Cursor for Design &amp; Planning</a:t>
            </a:r>
            <a:endParaRPr lang="en-US" sz="2800" dirty="0"/>
          </a:p>
        </p:txBody>
      </p:sp>
      <p:sp>
        <p:nvSpPr>
          <p:cNvPr id="3" name="Text 1"/>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3A1A1"/>
                </a:solidFill>
                <a:latin typeface="Calibri" pitchFamily="34" charset="0"/>
                <a:ea typeface="Calibri" pitchFamily="34" charset="-122"/>
                <a:cs typeface="Calibri" pitchFamily="34" charset="-120"/>
              </a:rPr>
              <a:t>What to say when design-to-code comes up on a call</a:t>
            </a:r>
            <a:endParaRPr lang="en-US" sz="1300" dirty="0"/>
          </a:p>
        </p:txBody>
      </p:sp>
      <p:sp>
        <p:nvSpPr>
          <p:cNvPr id="4" name="Shape 2"/>
          <p:cNvSpPr/>
          <p:nvPr/>
        </p:nvSpPr>
        <p:spPr>
          <a:xfrm>
            <a:off x="731520" y="1051560"/>
            <a:ext cx="2514600" cy="260604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731520" y="1051560"/>
            <a:ext cx="2514600" cy="54864"/>
          </a:xfrm>
          <a:prstGeom prst="rect">
            <a:avLst/>
          </a:prstGeom>
          <a:solidFill>
            <a:srgbClr val="268BD2"/>
          </a:solidFill>
          <a:ln/>
        </p:spPr>
      </p:sp>
      <p:sp>
        <p:nvSpPr>
          <p:cNvPr id="6" name="Text 4"/>
          <p:cNvSpPr/>
          <p:nvPr/>
        </p:nvSpPr>
        <p:spPr>
          <a:xfrm>
            <a:off x="914400" y="1188720"/>
            <a:ext cx="2148840" cy="502920"/>
          </a:xfrm>
          <a:prstGeom prst="rect">
            <a:avLst/>
          </a:prstGeom>
          <a:noFill/>
          <a:ln/>
        </p:spPr>
        <p:txBody>
          <a:bodyPr wrap="square" lIns="0" tIns="0" rIns="0" bIns="0" rtlCol="0" anchor="ctr"/>
          <a:lstStyle/>
          <a:p>
            <a:pPr indent="0" marL="0">
              <a:lnSpc>
                <a:spcPct val="120000"/>
              </a:lnSpc>
              <a:buNone/>
            </a:pPr>
            <a:r>
              <a:rPr lang="en-US" sz="1100" b="1" dirty="0">
                <a:solidFill>
                  <a:srgbClr val="268BD2"/>
                </a:solidFill>
                <a:latin typeface="Trebuchet MS" pitchFamily="34" charset="0"/>
                <a:ea typeface="Trebuchet MS" pitchFamily="34" charset="-122"/>
                <a:cs typeface="Trebuchet MS" pitchFamily="34" charset="-120"/>
              </a:rPr>
              <a:t>Keep Your Design System,</a:t>
            </a:r>
            <a:endParaRPr lang="en-US" sz="1100" dirty="0"/>
          </a:p>
          <a:p>
            <a:pPr indent="0" marL="0">
              <a:lnSpc>
                <a:spcPct val="120000"/>
              </a:lnSpc>
              <a:buNone/>
            </a:pPr>
            <a:r>
              <a:rPr lang="en-US" sz="1100" b="1" dirty="0">
                <a:solidFill>
                  <a:srgbClr val="268BD2"/>
                </a:solidFill>
                <a:latin typeface="Trebuchet MS" pitchFamily="34" charset="0"/>
                <a:ea typeface="Trebuchet MS" pitchFamily="34" charset="-122"/>
                <a:cs typeface="Trebuchet MS" pitchFamily="34" charset="-120"/>
              </a:rPr>
              <a:t>Get More From It</a:t>
            </a:r>
            <a:endParaRPr lang="en-US" sz="1100" dirty="0"/>
          </a:p>
        </p:txBody>
      </p:sp>
      <p:sp>
        <p:nvSpPr>
          <p:cNvPr id="7" name="Text 5"/>
          <p:cNvSpPr/>
          <p:nvPr/>
        </p:nvSpPr>
        <p:spPr>
          <a:xfrm>
            <a:off x="914400" y="1737360"/>
            <a:ext cx="2148840" cy="1828800"/>
          </a:xfrm>
          <a:prstGeom prst="rect">
            <a:avLst/>
          </a:prstGeom>
          <a:noFill/>
          <a:ln/>
        </p:spPr>
        <p:txBody>
          <a:bodyPr wrap="square" lIns="0" tIns="0" rIns="0" bIns="0" rtlCol="0" anchor="ctr"/>
          <a:lstStyle/>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You don't change how you work</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Cursor connects to your design system through Figma MCP</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Converts designs directly into codebase-compatible code</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Your framework, your components, your patterns</a:t>
            </a:r>
            <a:endParaRPr lang="en-US" sz="1000" dirty="0"/>
          </a:p>
        </p:txBody>
      </p:sp>
      <p:sp>
        <p:nvSpPr>
          <p:cNvPr id="8" name="Shape 6"/>
          <p:cNvSpPr/>
          <p:nvPr/>
        </p:nvSpPr>
        <p:spPr>
          <a:xfrm>
            <a:off x="3474720" y="1051560"/>
            <a:ext cx="2514600" cy="260604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9" name="Shape 7"/>
          <p:cNvSpPr/>
          <p:nvPr/>
        </p:nvSpPr>
        <p:spPr>
          <a:xfrm>
            <a:off x="3474720" y="1051560"/>
            <a:ext cx="2514600" cy="54864"/>
          </a:xfrm>
          <a:prstGeom prst="rect">
            <a:avLst/>
          </a:prstGeom>
          <a:solidFill>
            <a:srgbClr val="6C71C4"/>
          </a:solidFill>
          <a:ln/>
        </p:spPr>
      </p:sp>
      <p:sp>
        <p:nvSpPr>
          <p:cNvPr id="10" name="Text 8"/>
          <p:cNvSpPr/>
          <p:nvPr/>
        </p:nvSpPr>
        <p:spPr>
          <a:xfrm>
            <a:off x="3657600" y="1188720"/>
            <a:ext cx="2148840" cy="502920"/>
          </a:xfrm>
          <a:prstGeom prst="rect">
            <a:avLst/>
          </a:prstGeom>
          <a:noFill/>
          <a:ln/>
        </p:spPr>
        <p:txBody>
          <a:bodyPr wrap="square" lIns="0" tIns="0" rIns="0" bIns="0" rtlCol="0" anchor="ctr"/>
          <a:lstStyle/>
          <a:p>
            <a:pPr indent="0" marL="0">
              <a:lnSpc>
                <a:spcPct val="120000"/>
              </a:lnSpc>
              <a:buNone/>
            </a:pPr>
            <a:r>
              <a:rPr lang="en-US" sz="1100" b="1" dirty="0">
                <a:solidFill>
                  <a:srgbClr val="6C71C4"/>
                </a:solidFill>
                <a:latin typeface="Trebuchet MS" pitchFamily="34" charset="0"/>
                <a:ea typeface="Trebuchet MS" pitchFamily="34" charset="-122"/>
                <a:cs typeface="Trebuchet MS" pitchFamily="34" charset="-120"/>
              </a:rPr>
              <a:t>How We Do It Better</a:t>
            </a:r>
            <a:endParaRPr lang="en-US" sz="1100" dirty="0"/>
          </a:p>
        </p:txBody>
      </p:sp>
      <p:sp>
        <p:nvSpPr>
          <p:cNvPr id="11" name="Text 9"/>
          <p:cNvSpPr/>
          <p:nvPr/>
        </p:nvSpPr>
        <p:spPr>
          <a:xfrm>
            <a:off x="3657600" y="1737360"/>
            <a:ext cx="2148840" cy="1828800"/>
          </a:xfrm>
          <a:prstGeom prst="rect">
            <a:avLst/>
          </a:prstGeom>
          <a:noFill/>
          <a:ln/>
        </p:spPr>
        <p:txBody>
          <a:bodyPr wrap="square" lIns="0" tIns="0" rIns="0" bIns="0" rtlCol="0" anchor="ctr"/>
          <a:lstStyle/>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Hooks, Skills, and Agents fine-tune output to your codebase</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Engineers set guardrails so designer code is near production-ready</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Built-in browser editor gives designers a Figma-like experience</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They're writing code with the code part abstracted away</a:t>
            </a:r>
            <a:endParaRPr lang="en-US" sz="1000" dirty="0"/>
          </a:p>
        </p:txBody>
      </p:sp>
      <p:sp>
        <p:nvSpPr>
          <p:cNvPr id="12" name="Shape 10"/>
          <p:cNvSpPr/>
          <p:nvPr/>
        </p:nvSpPr>
        <p:spPr>
          <a:xfrm>
            <a:off x="6217920" y="1051560"/>
            <a:ext cx="2514600" cy="2606040"/>
          </a:xfrm>
          <a:prstGeom prst="rect">
            <a:avLst/>
          </a:prstGeom>
          <a:solidFill>
            <a:srgbClr val="F7FAFC"/>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6217920" y="1051560"/>
            <a:ext cx="2514600" cy="54864"/>
          </a:xfrm>
          <a:prstGeom prst="rect">
            <a:avLst/>
          </a:prstGeom>
          <a:solidFill>
            <a:srgbClr val="2AA198"/>
          </a:solidFill>
          <a:ln/>
        </p:spPr>
      </p:sp>
      <p:sp>
        <p:nvSpPr>
          <p:cNvPr id="14" name="Text 12"/>
          <p:cNvSpPr/>
          <p:nvPr/>
        </p:nvSpPr>
        <p:spPr>
          <a:xfrm>
            <a:off x="6400800" y="1188720"/>
            <a:ext cx="2148840" cy="502920"/>
          </a:xfrm>
          <a:prstGeom prst="rect">
            <a:avLst/>
          </a:prstGeom>
          <a:noFill/>
          <a:ln/>
        </p:spPr>
        <p:txBody>
          <a:bodyPr wrap="square" lIns="0" tIns="0" rIns="0" bIns="0" rtlCol="0" anchor="ctr"/>
          <a:lstStyle/>
          <a:p>
            <a:pPr indent="0" marL="0">
              <a:lnSpc>
                <a:spcPct val="120000"/>
              </a:lnSpc>
              <a:buNone/>
            </a:pPr>
            <a:r>
              <a:rPr lang="en-US" sz="1100" b="1" dirty="0">
                <a:solidFill>
                  <a:srgbClr val="2AA198"/>
                </a:solidFill>
                <a:latin typeface="Trebuchet MS" pitchFamily="34" charset="0"/>
                <a:ea typeface="Trebuchet MS" pitchFamily="34" charset="-122"/>
                <a:cs typeface="Trebuchet MS" pitchFamily="34" charset="-120"/>
              </a:rPr>
              <a:t>Why It Matters:</a:t>
            </a:r>
            <a:endParaRPr lang="en-US" sz="1100" dirty="0"/>
          </a:p>
          <a:p>
            <a:pPr indent="0" marL="0">
              <a:lnSpc>
                <a:spcPct val="120000"/>
              </a:lnSpc>
              <a:buNone/>
            </a:pPr>
            <a:r>
              <a:rPr lang="en-US" sz="1100" b="1" dirty="0">
                <a:solidFill>
                  <a:srgbClr val="2AA198"/>
                </a:solidFill>
                <a:latin typeface="Trebuchet MS" pitchFamily="34" charset="0"/>
                <a:ea typeface="Trebuchet MS" pitchFamily="34" charset="-122"/>
                <a:cs typeface="Trebuchet MS" pitchFamily="34" charset="-120"/>
              </a:rPr>
              <a:t>The Handoff Shrinks</a:t>
            </a:r>
            <a:endParaRPr lang="en-US" sz="1100" dirty="0"/>
          </a:p>
        </p:txBody>
      </p:sp>
      <p:sp>
        <p:nvSpPr>
          <p:cNvPr id="15" name="Text 13"/>
          <p:cNvSpPr/>
          <p:nvPr/>
        </p:nvSpPr>
        <p:spPr>
          <a:xfrm>
            <a:off x="6400800" y="1737360"/>
            <a:ext cx="2148840" cy="1828800"/>
          </a:xfrm>
          <a:prstGeom prst="rect">
            <a:avLst/>
          </a:prstGeom>
          <a:noFill/>
          <a:ln/>
        </p:spPr>
        <p:txBody>
          <a:bodyPr wrap="square" lIns="0" tIns="0" rIns="0" bIns="0" rtlCol="0" anchor="ctr"/>
          <a:lstStyle/>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Handoff goes from many round trips to one or two</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Designers push a near production-ready PR</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Engineers approve and do final touches</a:t>
            </a:r>
            <a:endParaRPr lang="en-US" sz="1000" dirty="0"/>
          </a:p>
          <a:p>
            <a:pPr marL="342900" indent="-342900">
              <a:lnSpc>
                <a:spcPct val="130000"/>
              </a:lnSpc>
              <a:spcAft>
                <a:spcPts val="500"/>
              </a:spcAft>
              <a:buSzPct val="100000"/>
              <a:buChar char="•"/>
            </a:pPr>
            <a:r>
              <a:rPr lang="en-US" sz="1000" dirty="0">
                <a:solidFill>
                  <a:srgbClr val="4A5568"/>
                </a:solidFill>
                <a:latin typeface="Calibri" pitchFamily="34" charset="0"/>
                <a:ea typeface="Calibri" pitchFamily="34" charset="-122"/>
                <a:cs typeface="Calibri" pitchFamily="34" charset="-120"/>
              </a:rPr>
              <a:t>No more rebuilding from scratch</a:t>
            </a:r>
            <a:endParaRPr lang="en-US" sz="1000" dirty="0"/>
          </a:p>
        </p:txBody>
      </p:sp>
      <p:sp>
        <p:nvSpPr>
          <p:cNvPr id="16" name="Shape 14"/>
          <p:cNvSpPr/>
          <p:nvPr/>
        </p:nvSpPr>
        <p:spPr>
          <a:xfrm>
            <a:off x="731520" y="3794760"/>
            <a:ext cx="7680960" cy="1188720"/>
          </a:xfrm>
          <a:prstGeom prst="rect">
            <a:avLst/>
          </a:prstGeom>
          <a:solidFill>
            <a:srgbClr val="F0F9FF"/>
          </a:solidFill>
          <a:ln w="12700">
            <a:solidFill>
              <a:srgbClr val="BFDBFE"/>
            </a:solidFill>
            <a:prstDash val="solid"/>
          </a:ln>
        </p:spPr>
      </p:sp>
      <p:sp>
        <p:nvSpPr>
          <p:cNvPr id="17" name="Text 15"/>
          <p:cNvSpPr/>
          <p:nvPr/>
        </p:nvSpPr>
        <p:spPr>
          <a:xfrm>
            <a:off x="914400" y="3840480"/>
            <a:ext cx="7315200" cy="274320"/>
          </a:xfrm>
          <a:prstGeom prst="rect">
            <a:avLst/>
          </a:prstGeom>
          <a:noFill/>
          <a:ln/>
        </p:spPr>
        <p:txBody>
          <a:bodyPr wrap="square" lIns="0" tIns="0" rIns="0" bIns="0" rtlCol="0" anchor="ctr"/>
          <a:lstStyle/>
          <a:p>
            <a:pPr indent="0" marL="0">
              <a:buNone/>
            </a:pPr>
            <a:r>
              <a:rPr lang="en-US" sz="1100" b="1" dirty="0">
                <a:solidFill>
                  <a:srgbClr val="1A202C"/>
                </a:solidFill>
                <a:latin typeface="Trebuchet MS" pitchFamily="34" charset="0"/>
                <a:ea typeface="Trebuchet MS" pitchFamily="34" charset="-122"/>
                <a:cs typeface="Trebuchet MS" pitchFamily="34" charset="-120"/>
              </a:rPr>
              <a:t>The 10-second version:</a:t>
            </a:r>
            <a:endParaRPr lang="en-US" sz="1100" dirty="0"/>
          </a:p>
        </p:txBody>
      </p:sp>
      <p:sp>
        <p:nvSpPr>
          <p:cNvPr id="18" name="Text 16"/>
          <p:cNvSpPr/>
          <p:nvPr/>
        </p:nvSpPr>
        <p:spPr>
          <a:xfrm>
            <a:off x="914400" y="4114800"/>
            <a:ext cx="7315200" cy="822960"/>
          </a:xfrm>
          <a:prstGeom prst="rect">
            <a:avLst/>
          </a:prstGeom>
          <a:noFill/>
          <a:ln/>
        </p:spPr>
        <p:txBody>
          <a:bodyPr wrap="square" lIns="0" tIns="0" rIns="0" bIns="0" rtlCol="0" anchor="ctr"/>
          <a:lstStyle/>
          <a:p>
            <a:pPr marL="342900" indent="-342900">
              <a:lnSpc>
                <a:spcPct val="130000"/>
              </a:lnSpc>
              <a:spcAft>
                <a:spcPts val="300"/>
              </a:spcAft>
              <a:buSzPct val="100000"/>
              <a:buChar char="•"/>
            </a:pPr>
            <a:r>
              <a:rPr lang="en-US" sz="1000" i="1" dirty="0">
                <a:solidFill>
                  <a:srgbClr val="4A5568"/>
                </a:solidFill>
                <a:latin typeface="Calibri" pitchFamily="34" charset="0"/>
                <a:ea typeface="Calibri" pitchFamily="34" charset="-122"/>
                <a:cs typeface="Calibri" pitchFamily="34" charset="-120"/>
              </a:rPr>
              <a:t>"Cursor takes your designers' design systems and workflows and translates them directly into production-ready code."</a:t>
            </a:r>
            <a:endParaRPr lang="en-US" sz="1000" dirty="0"/>
          </a:p>
          <a:p>
            <a:pPr marL="342900" indent="-342900">
              <a:lnSpc>
                <a:spcPct val="130000"/>
              </a:lnSpc>
              <a:spcAft>
                <a:spcPts val="300"/>
              </a:spcAft>
              <a:buSzPct val="100000"/>
              <a:buChar char="•"/>
            </a:pPr>
            <a:r>
              <a:rPr lang="en-US" sz="1000" i="1" dirty="0">
                <a:solidFill>
                  <a:srgbClr val="4A5568"/>
                </a:solidFill>
                <a:latin typeface="Calibri" pitchFamily="34" charset="0"/>
                <a:ea typeface="Calibri" pitchFamily="34" charset="-122"/>
                <a:cs typeface="Calibri" pitchFamily="34" charset="-120"/>
              </a:rPr>
              <a:t>"Cursor enables designers to get 99% of the way to production on their own, without needing to pull in devs."</a:t>
            </a:r>
            <a:endParaRPr lang="en-US" sz="1000" dirty="0"/>
          </a:p>
          <a:p>
            <a:pPr marL="342900" indent="-342900">
              <a:lnSpc>
                <a:spcPct val="130000"/>
              </a:lnSpc>
              <a:spcAft>
                <a:spcPts val="300"/>
              </a:spcAft>
              <a:buSzPct val="100000"/>
              <a:buChar char="•"/>
            </a:pPr>
            <a:r>
              <a:rPr lang="en-US" sz="1000" i="1" dirty="0">
                <a:solidFill>
                  <a:srgbClr val="4A5568"/>
                </a:solidFill>
                <a:latin typeface="Calibri" pitchFamily="34" charset="0"/>
                <a:ea typeface="Calibri" pitchFamily="34" charset="-122"/>
                <a:cs typeface="Calibri" pitchFamily="34" charset="-120"/>
              </a:rPr>
              <a:t>"What used to be weeks of back-and-forth has turned into a designer creating a production-ready PR in days."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Design-to-Code: Coaching Deck</dc:title>
  <dc:subject>PptxGenJS Presentation</dc:subject>
  <dc:creator>Design-to-Code Coaching</dc:creator>
  <cp:lastModifiedBy>Design-to-Code Coaching</cp:lastModifiedBy>
  <cp:revision>1</cp:revision>
  <dcterms:created xsi:type="dcterms:W3CDTF">2026-02-17T18:08:09Z</dcterms:created>
  <dcterms:modified xsi:type="dcterms:W3CDTF">2026-02-17T18:08:09Z</dcterms:modified>
</cp:coreProperties>
</file>